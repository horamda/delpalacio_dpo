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4" r:id="rId9"/>
    <p:sldId id="267" r:id="rId10"/>
    <p:sldId id="263" r:id="rId11"/>
    <p:sldId id="268" r:id="rId12"/>
    <p:sldId id="265" r:id="rId13"/>
    <p:sldId id="266" r:id="rId14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DAD07-00A9-F783-2E59-A40CBF62E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335EBA-D849-8516-396C-B421E4D97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01E7E6-5DBF-99E2-FB9E-99CA251A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053808-18B6-C7D0-F1C8-7CF02FEC4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4D9573-681A-1665-9E1B-AF0D53BAF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95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63FD3-8057-C979-682C-DD1445693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1C1CE9-13F8-9618-30C8-70A89D13A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E4191C-0BFD-36AE-E918-9065E066F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4BD4D5-72F9-882D-CF28-DFD7ACB3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31B84F-35EB-FA13-617F-8984F38A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8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84B5D-3185-CCEF-010D-2D0EC88DF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5D8FAD-C1D5-D789-1DDF-A0E02E8D1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DF1673-D36A-97F3-7672-A08E642DF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28B37-CDBB-773C-E2EF-ACF68888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692573-DF29-1D8A-445C-74DE2C4F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28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F8C7B-7BE1-90F7-8497-45BB96BE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161304-6910-3091-5F09-4E3B130B8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4307D9-CA8A-A8F7-0F74-338B68E65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58A04A-B4B1-00DD-5ED3-E8F9A8AA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BBE5F3-EFC8-C27F-810E-D4A886C5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CF6F15-2803-CDBA-C9DE-A3699341E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94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01808-51E2-A5C8-C4F1-5FCB9E90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69C2A3-6A07-E10B-1438-0A4444AF9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554C169-D30A-67B3-6E4F-57CA95DD4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37579B1-A108-BD76-F3FA-0A7B89B959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22F0E64-4DFE-117A-F202-260F0E8C0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9D8BEAA-74AF-EEE4-D829-1E94B697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C0AEC4B-2729-1D8F-D9A8-78A494E04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B53F78-894C-BF2E-E86C-E2CEC131A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37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64062-FF00-4D1C-7ED2-BD6B3F01D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2A8AF4-E016-8368-2AD8-D7D4521F4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36DB7A5-DF7F-6E68-659F-FFF6A9BE5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4E54136-4261-6243-F40E-C7EF7CAD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28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FB2D956-3F44-26BA-8ECC-BC0D2640B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86667F-5FA7-3413-7FD9-027269A8A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AFF6DE-60B6-253D-6474-4996BAB27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81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E7DE7-B2BA-AB86-3D95-BBEC01FED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5B51CF-8FEF-2296-61B8-FAD098B4E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9FEB9F-7036-48D1-AF30-C75CBB143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F89205-26DF-ECFD-A92B-BCC4FFB48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6D1B0D-1F83-2847-B194-74E68B708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EB638F-93B6-ABBF-CA7E-FFD4D7941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62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1A27EF-6882-7132-9426-70A349D8C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EB185E3-BDF4-ED11-8856-5D2A53C08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EE1090-3E1E-02EB-A46F-CBF70EBAE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89CC73-42BF-C81C-4A46-D4D2ABF28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B244DF-FA11-B53E-A191-5F9F75E46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9B960A-6DD4-7508-ECFD-ACF7D80FB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74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3079F-5E80-1D06-522A-49816D7E4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02E8C7-8BEE-8205-3A28-B1F2FCA3A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26DE96-170E-EE61-1976-2DBA5B20F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9F3ABD-DB93-FA5A-3C9F-349138C07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DCF4F1-269E-17D2-88F1-064C2363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2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5E61816-4465-8D8A-4CE0-154897B36E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B4CA0B-31C5-023B-0DB1-FDF1C869D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78D34B-2F4B-E91D-541E-90CBE4EE0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F0694E-B5CB-7CB3-4F30-80697B2F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AECF75-C923-93D2-244E-F868EC718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7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2A66FBD-0EED-07C8-20D5-FF21538CF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1D1267-32CA-EBA8-AF37-AC64C5E93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89B68C-FEE4-3188-493A-585D8555AA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E27D40-3037-F0DB-90CA-884D4AB5E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1ED0B7-0FBA-9515-4ECF-E53B0887B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21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" y="583345"/>
            <a:ext cx="8143430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/>
            <a:r>
              <a:rPr lang="en-US" sz="7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Capacitación</a:t>
            </a:r>
            <a:r>
              <a:rPr lang="en-US" sz="7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7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Reempaque</a:t>
            </a:r>
            <a:r>
              <a:rPr lang="en-US" sz="7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7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Rotura</a:t>
            </a:r>
            <a:r>
              <a:rPr lang="en-US" sz="7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7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productos</a:t>
            </a:r>
            <a:endParaRPr lang="en-US" sz="7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082" y="4857260"/>
            <a:ext cx="6434024" cy="50482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spcBef>
                <a:spcPts val="1000"/>
              </a:spcBef>
              <a:buNone/>
            </a:pP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Del Palacio S.A. -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Almacén</a:t>
            </a:r>
            <a:endParaRPr lang="en-US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7BEA54C-FEC0-2F63-C86D-4CF7E1160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675" y="4112254"/>
            <a:ext cx="2813219" cy="249966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CC34463-726B-7BC8-5EE8-F1E93DF10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74" y="6182308"/>
            <a:ext cx="2394780" cy="4645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4109" y="-222650"/>
            <a:ext cx="3596055" cy="181785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¿</a:t>
            </a:r>
            <a:r>
              <a:rPr lang="en-US" sz="49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Qué</a:t>
            </a:r>
            <a:r>
              <a:rPr lang="en-US" sz="4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es el </a:t>
            </a:r>
            <a:r>
              <a:rPr lang="en-US" sz="49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reempaque</a:t>
            </a:r>
            <a:r>
              <a:rPr lang="en-US" sz="4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149" y="1817857"/>
            <a:ext cx="8027187" cy="1481569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 algn="ctr" defTabSz="914400">
              <a:spcBef>
                <a:spcPts val="1000"/>
              </a:spcBef>
              <a:buNone/>
            </a:pPr>
            <a:r>
              <a:rPr lang="en-US" sz="2000" dirty="0" err="1">
                <a:solidFill>
                  <a:srgbClr val="FFFFFF"/>
                </a:solidFill>
              </a:rPr>
              <a:t>S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ustitu</a:t>
            </a:r>
            <a:r>
              <a:rPr lang="en-US" sz="2000" dirty="0" err="1">
                <a:solidFill>
                  <a:srgbClr val="FFFFFF"/>
                </a:solidFill>
              </a:rPr>
              <a:t>ir</a:t>
            </a:r>
            <a:r>
              <a:rPr lang="en-US" sz="2000" dirty="0">
                <a:solidFill>
                  <a:srgbClr val="FFFFFF"/>
                </a:solidFill>
              </a:rPr>
              <a:t> el </a:t>
            </a:r>
            <a:r>
              <a:rPr lang="en-US" sz="2000" dirty="0" err="1">
                <a:solidFill>
                  <a:srgbClr val="FFFFFF"/>
                </a:solidFill>
              </a:rPr>
              <a:t>embalaje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secundario</a:t>
            </a:r>
            <a:r>
              <a:rPr lang="en-US" sz="2000" dirty="0">
                <a:solidFill>
                  <a:srgbClr val="FFFFFF"/>
                </a:solidFill>
              </a:rPr>
              <a:t> de </a:t>
            </a:r>
            <a:r>
              <a:rPr lang="en-US" sz="2000" dirty="0" err="1">
                <a:solidFill>
                  <a:srgbClr val="FFFFFF"/>
                </a:solidFill>
              </a:rPr>
              <a:t>los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productos</a:t>
            </a:r>
            <a:r>
              <a:rPr lang="en-US" sz="2000" dirty="0">
                <a:solidFill>
                  <a:srgbClr val="FFFFFF"/>
                </a:solidFill>
              </a:rPr>
              <a:t> y </a:t>
            </a:r>
            <a:r>
              <a:rPr lang="en-US" sz="2000" dirty="0" err="1">
                <a:solidFill>
                  <a:srgbClr val="FFFFFF"/>
                </a:solidFill>
              </a:rPr>
              <a:t>por</a:t>
            </a:r>
            <a:r>
              <a:rPr lang="en-US" sz="2000" dirty="0">
                <a:solidFill>
                  <a:srgbClr val="FFFFFF"/>
                </a:solidFill>
              </a:rPr>
              <a:t> lo tanto </a:t>
            </a:r>
            <a:r>
              <a:rPr lang="en-US" sz="2000" dirty="0" err="1">
                <a:solidFill>
                  <a:srgbClr val="FFFFFF"/>
                </a:solidFill>
              </a:rPr>
              <a:t>pueden</a:t>
            </a:r>
            <a:r>
              <a:rPr lang="en-US" sz="2000" dirty="0">
                <a:solidFill>
                  <a:srgbClr val="FFFFFF"/>
                </a:solidFill>
              </a:rPr>
              <a:t> ser </a:t>
            </a:r>
            <a:r>
              <a:rPr lang="en-US" sz="2000" dirty="0" err="1">
                <a:solidFill>
                  <a:srgbClr val="FFFFFF"/>
                </a:solidFill>
              </a:rPr>
              <a:t>comercializados</a:t>
            </a:r>
            <a:r>
              <a:rPr lang="en-US" sz="2000" dirty="0">
                <a:solidFill>
                  <a:srgbClr val="FFFFFF"/>
                </a:solidFill>
              </a:rPr>
              <a:t>.</a:t>
            </a:r>
          </a:p>
          <a:p>
            <a:pPr marL="0" indent="0" algn="ctr" defTabSz="914400">
              <a:spcBef>
                <a:spcPts val="1000"/>
              </a:spcBef>
              <a:buNone/>
            </a:pPr>
            <a:r>
              <a:rPr lang="en-US" sz="2000" dirty="0" err="1">
                <a:solidFill>
                  <a:srgbClr val="FFFFFF"/>
                </a:solidFill>
              </a:rPr>
              <a:t>Incluye</a:t>
            </a:r>
            <a:r>
              <a:rPr lang="en-US" sz="2000" dirty="0">
                <a:solidFill>
                  <a:srgbClr val="FFFFFF"/>
                </a:solidFill>
              </a:rPr>
              <a:t> el </a:t>
            </a:r>
            <a:r>
              <a:rPr lang="en-US" sz="2000" dirty="0" err="1">
                <a:solidFill>
                  <a:srgbClr val="FFFFFF"/>
                </a:solidFill>
              </a:rPr>
              <a:t>proceso</a:t>
            </a:r>
            <a:r>
              <a:rPr lang="en-US" sz="2000" dirty="0">
                <a:solidFill>
                  <a:srgbClr val="FFFFFF"/>
                </a:solidFill>
              </a:rPr>
              <a:t>  de </a:t>
            </a:r>
            <a:r>
              <a:rPr lang="en-US" sz="2000" dirty="0" err="1">
                <a:solidFill>
                  <a:srgbClr val="FFFFFF"/>
                </a:solidFill>
              </a:rPr>
              <a:t>identificacion</a:t>
            </a:r>
            <a:r>
              <a:rPr lang="en-US" sz="2000" dirty="0">
                <a:solidFill>
                  <a:srgbClr val="FFFFFF"/>
                </a:solidFill>
              </a:rPr>
              <a:t>, </a:t>
            </a:r>
            <a:r>
              <a:rPr lang="en-US" sz="2000" dirty="0" err="1">
                <a:solidFill>
                  <a:srgbClr val="FFFFFF"/>
                </a:solidFill>
              </a:rPr>
              <a:t>separacion</a:t>
            </a:r>
            <a:r>
              <a:rPr lang="en-US" sz="2000" dirty="0">
                <a:solidFill>
                  <a:srgbClr val="FFFFFF"/>
                </a:solidFill>
              </a:rPr>
              <a:t> (</a:t>
            </a:r>
            <a:r>
              <a:rPr lang="en-US" sz="2000" dirty="0" err="1">
                <a:solidFill>
                  <a:srgbClr val="FFFFFF"/>
                </a:solidFill>
              </a:rPr>
              <a:t>conforme</a:t>
            </a:r>
            <a:r>
              <a:rPr lang="en-US" sz="2000" dirty="0">
                <a:solidFill>
                  <a:srgbClr val="FFFFFF"/>
                </a:solidFill>
              </a:rPr>
              <a:t> – no </a:t>
            </a:r>
            <a:r>
              <a:rPr lang="en-US" sz="2000" dirty="0" err="1">
                <a:solidFill>
                  <a:srgbClr val="FFFFFF"/>
                </a:solidFill>
              </a:rPr>
              <a:t>conforme</a:t>
            </a:r>
            <a:r>
              <a:rPr lang="en-US" sz="2000" dirty="0">
                <a:solidFill>
                  <a:srgbClr val="FFFFFF"/>
                </a:solidFill>
              </a:rPr>
              <a:t>), </a:t>
            </a:r>
            <a:r>
              <a:rPr lang="en-US" sz="2000" dirty="0" err="1">
                <a:solidFill>
                  <a:srgbClr val="FFFFFF"/>
                </a:solidFill>
              </a:rPr>
              <a:t>limpieza</a:t>
            </a:r>
            <a:r>
              <a:rPr lang="en-US" sz="2000" dirty="0">
                <a:solidFill>
                  <a:srgbClr val="FFFFFF"/>
                </a:solidFill>
              </a:rPr>
              <a:t> e </a:t>
            </a:r>
            <a:r>
              <a:rPr lang="en-US" sz="2000" dirty="0" err="1">
                <a:solidFill>
                  <a:srgbClr val="FFFFFF"/>
                </a:solidFill>
              </a:rPr>
              <a:t>identificacion</a:t>
            </a:r>
            <a:r>
              <a:rPr lang="en-US" sz="2000" dirty="0">
                <a:solidFill>
                  <a:srgbClr val="FFFFFF"/>
                </a:solidFill>
              </a:rPr>
              <a:t> de </a:t>
            </a:r>
            <a:r>
              <a:rPr lang="en-US" sz="2000" dirty="0" err="1">
                <a:solidFill>
                  <a:srgbClr val="FFFFFF"/>
                </a:solidFill>
              </a:rPr>
              <a:t>productos</a:t>
            </a:r>
            <a:r>
              <a:rPr lang="en-US" sz="2000" dirty="0">
                <a:solidFill>
                  <a:srgbClr val="FFFFFF"/>
                </a:solidFill>
              </a:rPr>
              <a:t>, y el </a:t>
            </a:r>
            <a:r>
              <a:rPr lang="en-US" sz="2000" dirty="0" err="1">
                <a:solidFill>
                  <a:srgbClr val="FFFFFF"/>
                </a:solidFill>
              </a:rPr>
              <a:t>armado</a:t>
            </a:r>
            <a:r>
              <a:rPr lang="en-US" sz="2000" dirty="0">
                <a:solidFill>
                  <a:srgbClr val="FFFFFF"/>
                </a:solidFill>
              </a:rPr>
              <a:t> e </a:t>
            </a:r>
            <a:r>
              <a:rPr lang="en-US" sz="2000" dirty="0" err="1">
                <a:solidFill>
                  <a:srgbClr val="FFFFFF"/>
                </a:solidFill>
              </a:rPr>
              <a:t>inspeccion</a:t>
            </a:r>
            <a:r>
              <a:rPr lang="en-US" sz="2000" dirty="0">
                <a:solidFill>
                  <a:srgbClr val="FFFFFF"/>
                </a:solidFill>
              </a:rPr>
              <a:t> de </a:t>
            </a:r>
            <a:r>
              <a:rPr lang="en-US" sz="2000" dirty="0" err="1">
                <a:solidFill>
                  <a:srgbClr val="FFFFFF"/>
                </a:solidFill>
              </a:rPr>
              <a:t>nuevos</a:t>
            </a:r>
            <a:r>
              <a:rPr lang="en-US" sz="2000" dirty="0">
                <a:solidFill>
                  <a:srgbClr val="FFFFFF"/>
                </a:solidFill>
              </a:rPr>
              <a:t> packs.</a:t>
            </a: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3201" y="2744546"/>
            <a:ext cx="104279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2285" y="29738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1546" y="3198265"/>
            <a:ext cx="95785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5946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B6131CB-5387-1B0F-6B72-1A625EFE6336}"/>
              </a:ext>
            </a:extLst>
          </p:cNvPr>
          <p:cNvSpPr txBox="1"/>
          <p:nvPr/>
        </p:nvSpPr>
        <p:spPr>
          <a:xfrm>
            <a:off x="1289389" y="3877322"/>
            <a:ext cx="34023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Embalaje primario</a:t>
            </a:r>
          </a:p>
          <a:p>
            <a:r>
              <a:rPr lang="es-AR" dirty="0"/>
              <a:t>Envoltura que esta en contacto directo con el producto y se considera la unidad mas pequeña de venta.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5F3C750-2069-EF48-38EB-70B0E25B8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230" y="5643877"/>
            <a:ext cx="1082673" cy="107846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2BD439B5-66A2-8F94-6915-87956D628D80}"/>
              </a:ext>
            </a:extLst>
          </p:cNvPr>
          <p:cNvSpPr txBox="1"/>
          <p:nvPr/>
        </p:nvSpPr>
        <p:spPr>
          <a:xfrm>
            <a:off x="5416461" y="3877322"/>
            <a:ext cx="33591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Embalaje secundario</a:t>
            </a:r>
          </a:p>
          <a:p>
            <a:r>
              <a:rPr lang="es-AR" dirty="0"/>
              <a:t>No esta en contacto directo con el producto y se utiliza para agregar envases primarios en envases con varias cantidades.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0322" y="583345"/>
            <a:ext cx="5370268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/>
            <a:r>
              <a:rPr lang="en-US" sz="7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385" y="2372174"/>
            <a:ext cx="7444965" cy="334027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spcBef>
                <a:spcPts val="1000"/>
              </a:spcBef>
              <a:buNone/>
            </a:pPr>
            <a:r>
              <a:rPr lang="en-US" sz="3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* </a:t>
            </a:r>
            <a:r>
              <a:rPr lang="en-US" sz="32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Comprender</a:t>
            </a:r>
            <a:r>
              <a:rPr lang="en-US" sz="3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el </a:t>
            </a:r>
            <a:r>
              <a:rPr lang="en-US" sz="32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proceso</a:t>
            </a:r>
            <a:r>
              <a:rPr lang="en-US" sz="3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2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seguro</a:t>
            </a:r>
            <a:r>
              <a:rPr lang="en-US" sz="3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                                                         </a:t>
            </a:r>
            <a:r>
              <a:rPr lang="en-US" sz="3200" dirty="0">
                <a:solidFill>
                  <a:srgbClr val="FFFFFF"/>
                </a:solidFill>
              </a:rPr>
              <a:t> </a:t>
            </a:r>
            <a:r>
              <a:rPr lang="en-US" sz="3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3200" dirty="0">
                <a:solidFill>
                  <a:srgbClr val="FFFFFF"/>
                </a:solidFill>
              </a:rPr>
              <a:t>     </a:t>
            </a:r>
            <a:r>
              <a:rPr lang="en-US" sz="3200" dirty="0" err="1">
                <a:solidFill>
                  <a:srgbClr val="FFFFFF"/>
                </a:solidFill>
              </a:rPr>
              <a:t>r</a:t>
            </a:r>
            <a:r>
              <a:rPr lang="en-US" sz="32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eempaque</a:t>
            </a:r>
            <a:endParaRPr lang="en-US" sz="32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 defTabSz="914400">
              <a:spcBef>
                <a:spcPts val="1000"/>
              </a:spcBef>
              <a:buNone/>
            </a:pPr>
            <a:r>
              <a:rPr lang="en-US" sz="3200" dirty="0">
                <a:solidFill>
                  <a:srgbClr val="FFFFFF"/>
                </a:solidFill>
              </a:rPr>
              <a:t>* </a:t>
            </a:r>
            <a:r>
              <a:rPr lang="en-US" sz="3200" dirty="0" err="1">
                <a:solidFill>
                  <a:srgbClr val="FFFFFF"/>
                </a:solidFill>
              </a:rPr>
              <a:t>Reducir</a:t>
            </a:r>
            <a:r>
              <a:rPr lang="en-US" sz="3200" dirty="0">
                <a:solidFill>
                  <a:srgbClr val="FFFFFF"/>
                </a:solidFill>
              </a:rPr>
              <a:t> </a:t>
            </a:r>
            <a:r>
              <a:rPr lang="en-US" sz="3200" dirty="0" err="1">
                <a:solidFill>
                  <a:srgbClr val="FFFFFF"/>
                </a:solidFill>
              </a:rPr>
              <a:t>perdidas</a:t>
            </a:r>
            <a:endParaRPr lang="en-US" sz="3200" dirty="0">
              <a:solidFill>
                <a:srgbClr val="FFFFFF"/>
              </a:solidFill>
            </a:endParaRPr>
          </a:p>
          <a:p>
            <a:pPr marL="0" indent="0" defTabSz="914400">
              <a:spcBef>
                <a:spcPts val="1000"/>
              </a:spcBef>
              <a:buNone/>
            </a:pPr>
            <a:r>
              <a:rPr lang="en-US" sz="3200" dirty="0">
                <a:solidFill>
                  <a:srgbClr val="FFFFFF"/>
                </a:solidFill>
              </a:rPr>
              <a:t>* </a:t>
            </a:r>
            <a:r>
              <a:rPr lang="en-US" sz="3200" dirty="0" err="1">
                <a:solidFill>
                  <a:srgbClr val="FFFFFF"/>
                </a:solidFill>
              </a:rPr>
              <a:t>Garantizar</a:t>
            </a:r>
            <a:r>
              <a:rPr lang="en-US" sz="3200" dirty="0">
                <a:solidFill>
                  <a:srgbClr val="FFFFFF"/>
                </a:solidFill>
              </a:rPr>
              <a:t> </a:t>
            </a:r>
            <a:r>
              <a:rPr lang="en-US" sz="3200" dirty="0" err="1">
                <a:solidFill>
                  <a:srgbClr val="FFFFFF"/>
                </a:solidFill>
              </a:rPr>
              <a:t>calidad</a:t>
            </a:r>
            <a:endParaRPr lang="en-US" sz="3200" dirty="0">
              <a:solidFill>
                <a:srgbClr val="FFFFFF"/>
              </a:solidFill>
            </a:endParaRPr>
          </a:p>
          <a:p>
            <a:pPr marL="0" indent="0" defTabSz="914400">
              <a:spcBef>
                <a:spcPts val="1000"/>
              </a:spcBef>
              <a:buNone/>
            </a:pPr>
            <a:r>
              <a:rPr lang="en-US" sz="3200" dirty="0">
                <a:solidFill>
                  <a:srgbClr val="FFFFFF"/>
                </a:solidFill>
              </a:rPr>
              <a:t>* </a:t>
            </a:r>
            <a:r>
              <a:rPr lang="en-US" sz="3200" dirty="0" err="1">
                <a:solidFill>
                  <a:srgbClr val="FFFFFF"/>
                </a:solidFill>
              </a:rPr>
              <a:t>Asegurar</a:t>
            </a:r>
            <a:r>
              <a:rPr lang="en-US" sz="3200" dirty="0">
                <a:solidFill>
                  <a:srgbClr val="FFFFFF"/>
                </a:solidFill>
              </a:rPr>
              <a:t> </a:t>
            </a:r>
            <a:r>
              <a:rPr lang="en-US" sz="3200" dirty="0" err="1">
                <a:solidFill>
                  <a:srgbClr val="FFFFFF"/>
                </a:solidFill>
              </a:rPr>
              <a:t>trazabilidad</a:t>
            </a:r>
            <a:endParaRPr lang="en-US" sz="3200" dirty="0">
              <a:solidFill>
                <a:srgbClr val="FFFFFF"/>
              </a:solidFill>
            </a:endParaRPr>
          </a:p>
          <a:p>
            <a:pPr marL="0" indent="0" defTabSz="914400">
              <a:spcBef>
                <a:spcPts val="1000"/>
              </a:spcBef>
              <a:buNone/>
            </a:pPr>
            <a:endParaRPr lang="en-US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98C910-03A3-180A-922F-350DE61CF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826" y="5732439"/>
            <a:ext cx="947929" cy="944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0322" y="583345"/>
            <a:ext cx="5370268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/>
            <a:r>
              <a:rPr lang="en-US" sz="7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EPP obligatorio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7565" y="2754086"/>
            <a:ext cx="6272629" cy="372291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spcBef>
                <a:spcPts val="1000"/>
              </a:spcBef>
              <a:buNone/>
            </a:pPr>
            <a:r>
              <a:rPr lang="en-US" sz="3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* Casco</a:t>
            </a:r>
          </a:p>
          <a:p>
            <a:pPr marL="0" indent="0" defTabSz="914400">
              <a:spcBef>
                <a:spcPts val="1000"/>
              </a:spcBef>
              <a:buNone/>
            </a:pPr>
            <a:r>
              <a:rPr lang="en-US" sz="3200" dirty="0">
                <a:solidFill>
                  <a:srgbClr val="FFFFFF"/>
                </a:solidFill>
              </a:rPr>
              <a:t>* G</a:t>
            </a:r>
            <a:r>
              <a:rPr lang="en-US" sz="3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uantes</a:t>
            </a:r>
          </a:p>
          <a:p>
            <a:pPr marL="0" indent="0" defTabSz="914400">
              <a:spcBef>
                <a:spcPts val="1000"/>
              </a:spcBef>
              <a:buNone/>
            </a:pPr>
            <a:r>
              <a:rPr lang="en-US" sz="3200" dirty="0">
                <a:solidFill>
                  <a:srgbClr val="FFFFFF"/>
                </a:solidFill>
              </a:rPr>
              <a:t>* G</a:t>
            </a:r>
            <a:r>
              <a:rPr lang="en-US" sz="3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afas</a:t>
            </a:r>
          </a:p>
          <a:p>
            <a:pPr marL="0" indent="0" defTabSz="914400">
              <a:spcBef>
                <a:spcPts val="1000"/>
              </a:spcBef>
              <a:buNone/>
            </a:pPr>
            <a:r>
              <a:rPr lang="en-US" sz="3200" dirty="0">
                <a:solidFill>
                  <a:srgbClr val="FFFFFF"/>
                </a:solidFill>
              </a:rPr>
              <a:t>* M</a:t>
            </a:r>
            <a:r>
              <a:rPr lang="en-US" sz="3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anga </a:t>
            </a:r>
            <a:r>
              <a:rPr lang="en-US" sz="32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anticorte</a:t>
            </a:r>
            <a:r>
              <a:rPr lang="en-US" sz="3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marL="0" indent="0" defTabSz="914400">
              <a:spcBef>
                <a:spcPts val="1000"/>
              </a:spcBef>
              <a:buNone/>
            </a:pPr>
            <a:r>
              <a:rPr lang="en-US" sz="3200" dirty="0">
                <a:solidFill>
                  <a:srgbClr val="FFFFFF"/>
                </a:solidFill>
              </a:rPr>
              <a:t>* </a:t>
            </a:r>
            <a:r>
              <a:rPr lang="en-US" sz="3200" dirty="0" err="1">
                <a:solidFill>
                  <a:srgbClr val="FFFFFF"/>
                </a:solidFill>
              </a:rPr>
              <a:t>B</a:t>
            </a:r>
            <a:r>
              <a:rPr lang="en-US" sz="32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orcegos</a:t>
            </a:r>
            <a:endParaRPr lang="en-US" sz="32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937290635">
            <a:extLst>
              <a:ext uri="{FF2B5EF4-FFF2-40B4-BE49-F238E27FC236}">
                <a16:creationId xmlns:a16="http://schemas.microsoft.com/office/drawing/2014/main" id="{925EDF00-85DB-5AAD-AB79-139933A24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49" y="3105992"/>
            <a:ext cx="4430487" cy="23871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0484" y="398416"/>
            <a:ext cx="4253637" cy="18680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/>
            <a:r>
              <a:rPr lang="en-US" sz="5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Productos</a:t>
            </a:r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no </a:t>
            </a:r>
            <a:r>
              <a:rPr lang="en-US" sz="5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autorizados</a:t>
            </a:r>
            <a:endParaRPr lang="en-US" sz="5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9818" y="2266448"/>
            <a:ext cx="4135225" cy="2801883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ts val="1000"/>
              </a:spcBef>
              <a:buFontTx/>
              <a:buChar char="-"/>
            </a:pPr>
            <a:r>
              <a:rPr lang="en-US" sz="3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Gatorade</a:t>
            </a:r>
          </a:p>
          <a:p>
            <a:pPr defTabSz="914400">
              <a:spcBef>
                <a:spcPts val="1000"/>
              </a:spcBef>
              <a:buFontTx/>
              <a:buChar char="-"/>
            </a:pPr>
            <a:r>
              <a:rPr lang="en-US" sz="3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Corona</a:t>
            </a:r>
          </a:p>
          <a:p>
            <a:pPr defTabSz="914400">
              <a:spcBef>
                <a:spcPts val="1000"/>
              </a:spcBef>
              <a:buFontTx/>
              <a:buChar char="-"/>
            </a:pPr>
            <a:r>
              <a:rPr lang="en-US" sz="3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Patagonia</a:t>
            </a:r>
            <a:endParaRPr lang="en-US" sz="3800" dirty="0">
              <a:solidFill>
                <a:srgbClr val="FFFFFF"/>
              </a:solidFill>
            </a:endParaRPr>
          </a:p>
          <a:p>
            <a:pPr defTabSz="914400">
              <a:spcBef>
                <a:spcPts val="1000"/>
              </a:spcBef>
              <a:buFontTx/>
              <a:buChar char="-"/>
            </a:pPr>
            <a:r>
              <a:rPr lang="en-US" sz="3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Stella Artois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85491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E6885460-25C8-DE0C-A688-B8378103D258}"/>
              </a:ext>
            </a:extLst>
          </p:cNvPr>
          <p:cNvSpPr txBox="1"/>
          <p:nvPr/>
        </p:nvSpPr>
        <p:spPr>
          <a:xfrm>
            <a:off x="276061" y="398416"/>
            <a:ext cx="357027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>
                <a:solidFill>
                  <a:srgbClr val="FFFFFF"/>
                </a:solidFill>
                <a:latin typeface="+mj-lt"/>
              </a:rPr>
              <a:t>Productos</a:t>
            </a:r>
            <a:r>
              <a:rPr lang="en-US" sz="5400" dirty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5400" dirty="0" err="1">
                <a:solidFill>
                  <a:srgbClr val="FFFFFF"/>
                </a:solidFill>
                <a:latin typeface="+mj-lt"/>
              </a:rPr>
              <a:t>conformes</a:t>
            </a:r>
            <a:endParaRPr lang="en-US" sz="5400" dirty="0">
              <a:solidFill>
                <a:srgbClr val="FFFFFF"/>
              </a:solidFill>
              <a:latin typeface="+mj-lt"/>
            </a:endParaRPr>
          </a:p>
          <a:p>
            <a:pPr lvl="0"/>
            <a:endParaRPr lang="es-AR" sz="1600" dirty="0"/>
          </a:p>
          <a:p>
            <a:pPr lvl="0"/>
            <a:r>
              <a:rPr lang="es-AR" sz="1600" dirty="0"/>
              <a:t>- Producto que no es comercializable debido a daños/roturas por manipulación de los empaques primarios de algunas de las unidades (por ej. latas pinchadas, botellas con pérdida de líquido, suciedad en el empaque, </a:t>
            </a:r>
            <a:r>
              <a:rPr lang="es-AR" sz="1600" dirty="0" err="1"/>
              <a:t>etc</a:t>
            </a:r>
            <a:r>
              <a:rPr lang="es-AR" sz="1600" dirty="0"/>
              <a:t>) o del empaque secundario (reemplazo y recodificado por ej. de termo contraíble sucio, pack rasgado, </a:t>
            </a:r>
            <a:r>
              <a:rPr lang="es-AR" sz="1600" dirty="0" err="1"/>
              <a:t>etc</a:t>
            </a:r>
            <a:r>
              <a:rPr lang="es-AR" sz="1600" dirty="0"/>
              <a:t>).</a:t>
            </a:r>
          </a:p>
          <a:p>
            <a:pPr lvl="0"/>
            <a:r>
              <a:rPr lang="es-AR" sz="1600" dirty="0"/>
              <a:t>- Los productos no exceden los límites de frescura establecidos, de acuerdo con la Política de Frescura.</a:t>
            </a:r>
          </a:p>
          <a:p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E8CF774-8106-1E21-79CE-B4BE0FD40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038" y="5791386"/>
            <a:ext cx="4572235" cy="7683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>
            <a:extLst>
              <a:ext uri="{FF2B5EF4-FFF2-40B4-BE49-F238E27FC236}">
                <a16:creationId xmlns:a16="http://schemas.microsoft.com/office/drawing/2014/main" id="{F4155C20-3F0E-4576-8A0B-C345B6231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7" y="1598246"/>
            <a:ext cx="3415994" cy="5034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7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Proceso paso a paso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4745" y="1590840"/>
            <a:ext cx="3757880" cy="500753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spcBef>
                <a:spcPts val="1000"/>
              </a:spcBef>
              <a:buNone/>
            </a:pPr>
            <a:r>
              <a:rPr lang="en-US" sz="3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US" sz="38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Identificar</a:t>
            </a:r>
            <a:endParaRPr lang="en-US" sz="3800" dirty="0">
              <a:solidFill>
                <a:srgbClr val="FFFFFF"/>
              </a:solidFill>
            </a:endParaRPr>
          </a:p>
          <a:p>
            <a:pPr marL="0" indent="0" defTabSz="914400">
              <a:spcBef>
                <a:spcPts val="1000"/>
              </a:spcBef>
              <a:buNone/>
            </a:pPr>
            <a:r>
              <a:rPr lang="en-US" sz="3800" dirty="0">
                <a:solidFill>
                  <a:srgbClr val="FFFFFF"/>
                </a:solidFill>
              </a:rPr>
              <a:t>- </a:t>
            </a:r>
            <a:r>
              <a:rPr lang="en-US" sz="3800" dirty="0" err="1">
                <a:solidFill>
                  <a:srgbClr val="FFFFFF"/>
                </a:solidFill>
              </a:rPr>
              <a:t>S</a:t>
            </a:r>
            <a:r>
              <a:rPr lang="en-US" sz="38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eparar</a:t>
            </a:r>
            <a:endParaRPr lang="en-US" sz="3800" dirty="0">
              <a:solidFill>
                <a:srgbClr val="FFFFFF"/>
              </a:solidFill>
            </a:endParaRPr>
          </a:p>
          <a:p>
            <a:pPr marL="0" indent="0" defTabSz="914400">
              <a:spcBef>
                <a:spcPts val="1000"/>
              </a:spcBef>
              <a:buNone/>
            </a:pPr>
            <a:r>
              <a:rPr lang="en-US" sz="3800" dirty="0">
                <a:solidFill>
                  <a:srgbClr val="FFFFFF"/>
                </a:solidFill>
              </a:rPr>
              <a:t>- </a:t>
            </a:r>
            <a:r>
              <a:rPr lang="en-US" sz="3800" dirty="0" err="1">
                <a:solidFill>
                  <a:srgbClr val="FFFFFF"/>
                </a:solidFill>
              </a:rPr>
              <a:t>L</a:t>
            </a:r>
            <a:r>
              <a:rPr lang="en-US" sz="38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impiar</a:t>
            </a:r>
            <a:endParaRPr lang="en-US" sz="3800" dirty="0">
              <a:solidFill>
                <a:srgbClr val="FFFFFF"/>
              </a:solidFill>
            </a:endParaRPr>
          </a:p>
          <a:p>
            <a:pPr marL="0" indent="0" defTabSz="914400">
              <a:spcBef>
                <a:spcPts val="1000"/>
              </a:spcBef>
              <a:buNone/>
            </a:pPr>
            <a:r>
              <a:rPr lang="en-US" sz="3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US" sz="38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Inspeccionar</a:t>
            </a:r>
            <a:endParaRPr lang="en-US" sz="38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 defTabSz="914400">
              <a:spcBef>
                <a:spcPts val="1000"/>
              </a:spcBef>
              <a:buNone/>
            </a:pPr>
            <a:r>
              <a:rPr lang="en-US" sz="3800" dirty="0">
                <a:solidFill>
                  <a:srgbClr val="FFFFFF"/>
                </a:solidFill>
              </a:rPr>
              <a:t>- </a:t>
            </a:r>
            <a:r>
              <a:rPr lang="en-US" sz="3800" dirty="0" err="1">
                <a:solidFill>
                  <a:srgbClr val="FFFFFF"/>
                </a:solidFill>
              </a:rPr>
              <a:t>R</a:t>
            </a:r>
            <a:r>
              <a:rPr lang="en-US" sz="38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eempacar</a:t>
            </a:r>
            <a:endParaRPr lang="en-US" sz="3800" dirty="0">
              <a:solidFill>
                <a:srgbClr val="FFFFFF"/>
              </a:solidFill>
            </a:endParaRPr>
          </a:p>
          <a:p>
            <a:pPr marL="0" indent="0" defTabSz="914400">
              <a:spcBef>
                <a:spcPts val="1000"/>
              </a:spcBef>
              <a:buNone/>
            </a:pPr>
            <a:r>
              <a:rPr lang="en-US" sz="3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US" sz="38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Controlar</a:t>
            </a:r>
            <a:endParaRPr lang="en-US" sz="38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5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85491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Graphic 21">
            <a:extLst>
              <a:ext uri="{FF2B5EF4-FFF2-40B4-BE49-F238E27FC236}">
                <a16:creationId xmlns:a16="http://schemas.microsoft.com/office/drawing/2014/main" id="{0BAEB82B-9A6B-4982-B56B-7529C6EA9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7346" y="1731109"/>
            <a:ext cx="104279" cy="136646"/>
          </a:xfrm>
          <a:custGeom>
            <a:avLst/>
            <a:gdLst>
              <a:gd name="connsiteX0" fmla="*/ 129602 w 139039"/>
              <a:gd name="connsiteY0" fmla="*/ 59048 h 136646"/>
              <a:gd name="connsiteX1" fmla="*/ 78957 w 139039"/>
              <a:gd name="connsiteY1" fmla="*/ 59048 h 136646"/>
              <a:gd name="connsiteX2" fmla="*/ 78957 w 139039"/>
              <a:gd name="connsiteY2" fmla="*/ 9275 h 136646"/>
              <a:gd name="connsiteX3" fmla="*/ 69520 w 139039"/>
              <a:gd name="connsiteY3" fmla="*/ 0 h 136646"/>
              <a:gd name="connsiteX4" fmla="*/ 60082 w 139039"/>
              <a:gd name="connsiteY4" fmla="*/ 9275 h 136646"/>
              <a:gd name="connsiteX5" fmla="*/ 60082 w 139039"/>
              <a:gd name="connsiteY5" fmla="*/ 59048 h 136646"/>
              <a:gd name="connsiteX6" fmla="*/ 9437 w 139039"/>
              <a:gd name="connsiteY6" fmla="*/ 59048 h 136646"/>
              <a:gd name="connsiteX7" fmla="*/ 0 w 139039"/>
              <a:gd name="connsiteY7" fmla="*/ 68323 h 136646"/>
              <a:gd name="connsiteX8" fmla="*/ 9437 w 139039"/>
              <a:gd name="connsiteY8" fmla="*/ 77598 h 136646"/>
              <a:gd name="connsiteX9" fmla="*/ 60082 w 139039"/>
              <a:gd name="connsiteY9" fmla="*/ 77598 h 136646"/>
              <a:gd name="connsiteX10" fmla="*/ 60082 w 139039"/>
              <a:gd name="connsiteY10" fmla="*/ 127371 h 136646"/>
              <a:gd name="connsiteX11" fmla="*/ 69520 w 139039"/>
              <a:gd name="connsiteY11" fmla="*/ 136646 h 136646"/>
              <a:gd name="connsiteX12" fmla="*/ 78957 w 139039"/>
              <a:gd name="connsiteY12" fmla="*/ 127371 h 136646"/>
              <a:gd name="connsiteX13" fmla="*/ 78957 w 139039"/>
              <a:gd name="connsiteY13" fmla="*/ 77598 h 136646"/>
              <a:gd name="connsiteX14" fmla="*/ 129602 w 139039"/>
              <a:gd name="connsiteY14" fmla="*/ 77598 h 136646"/>
              <a:gd name="connsiteX15" fmla="*/ 139039 w 139039"/>
              <a:gd name="connsiteY15" fmla="*/ 68323 h 136646"/>
              <a:gd name="connsiteX16" fmla="*/ 129602 w 139039"/>
              <a:gd name="connsiteY16" fmla="*/ 59048 h 136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6646">
                <a:moveTo>
                  <a:pt x="129602" y="59048"/>
                </a:moveTo>
                <a:lnTo>
                  <a:pt x="78957" y="59048"/>
                </a:lnTo>
                <a:lnTo>
                  <a:pt x="78957" y="9275"/>
                </a:lnTo>
                <a:cubicBezTo>
                  <a:pt x="78957" y="4152"/>
                  <a:pt x="74731" y="0"/>
                  <a:pt x="69520" y="0"/>
                </a:cubicBezTo>
                <a:cubicBezTo>
                  <a:pt x="64308" y="0"/>
                  <a:pt x="60082" y="4152"/>
                  <a:pt x="60082" y="9275"/>
                </a:cubicBezTo>
                <a:lnTo>
                  <a:pt x="60082" y="59048"/>
                </a:lnTo>
                <a:lnTo>
                  <a:pt x="9437" y="59048"/>
                </a:lnTo>
                <a:cubicBezTo>
                  <a:pt x="4225" y="59048"/>
                  <a:pt x="0" y="63201"/>
                  <a:pt x="0" y="68323"/>
                </a:cubicBezTo>
                <a:cubicBezTo>
                  <a:pt x="0" y="73445"/>
                  <a:pt x="4225" y="77598"/>
                  <a:pt x="9437" y="77598"/>
                </a:cubicBezTo>
                <a:lnTo>
                  <a:pt x="60082" y="77598"/>
                </a:lnTo>
                <a:lnTo>
                  <a:pt x="60082" y="127371"/>
                </a:lnTo>
                <a:cubicBezTo>
                  <a:pt x="60082" y="132493"/>
                  <a:pt x="64308" y="136646"/>
                  <a:pt x="69520" y="136646"/>
                </a:cubicBezTo>
                <a:cubicBezTo>
                  <a:pt x="74731" y="136646"/>
                  <a:pt x="78957" y="132493"/>
                  <a:pt x="78957" y="127371"/>
                </a:cubicBezTo>
                <a:lnTo>
                  <a:pt x="78957" y="77598"/>
                </a:lnTo>
                <a:lnTo>
                  <a:pt x="129602" y="77598"/>
                </a:lnTo>
                <a:cubicBezTo>
                  <a:pt x="134814" y="77598"/>
                  <a:pt x="139039" y="73445"/>
                  <a:pt x="139039" y="68323"/>
                </a:cubicBezTo>
                <a:cubicBezTo>
                  <a:pt x="139039" y="63201"/>
                  <a:pt x="134814" y="59048"/>
                  <a:pt x="129602" y="59048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Graphic 17">
            <a:extLst>
              <a:ext uri="{FF2B5EF4-FFF2-40B4-BE49-F238E27FC236}">
                <a16:creationId xmlns:a16="http://schemas.microsoft.com/office/drawing/2014/main" id="{FC71CE45-EECF-4555-AD4B-1B3D0D5D1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6431" y="1956458"/>
            <a:ext cx="68353" cy="89570"/>
          </a:xfrm>
          <a:custGeom>
            <a:avLst/>
            <a:gdLst>
              <a:gd name="connsiteX0" fmla="*/ 91138 w 91138"/>
              <a:gd name="connsiteY0" fmla="*/ 44785 h 89570"/>
              <a:gd name="connsiteX1" fmla="*/ 45569 w 91138"/>
              <a:gd name="connsiteY1" fmla="*/ 89570 h 89570"/>
              <a:gd name="connsiteX2" fmla="*/ 0 w 91138"/>
              <a:gd name="connsiteY2" fmla="*/ 44785 h 89570"/>
              <a:gd name="connsiteX3" fmla="*/ 45569 w 91138"/>
              <a:gd name="connsiteY3" fmla="*/ 0 h 89570"/>
              <a:gd name="connsiteX4" fmla="*/ 91138 w 91138"/>
              <a:gd name="connsiteY4" fmla="*/ 44785 h 8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89570">
                <a:moveTo>
                  <a:pt x="91138" y="44785"/>
                </a:moveTo>
                <a:cubicBezTo>
                  <a:pt x="91138" y="69519"/>
                  <a:pt x="70736" y="89570"/>
                  <a:pt x="45569" y="89570"/>
                </a:cubicBezTo>
                <a:cubicBezTo>
                  <a:pt x="20402" y="89570"/>
                  <a:pt x="0" y="69519"/>
                  <a:pt x="0" y="44785"/>
                </a:cubicBezTo>
                <a:cubicBezTo>
                  <a:pt x="0" y="20051"/>
                  <a:pt x="20402" y="0"/>
                  <a:pt x="45569" y="0"/>
                </a:cubicBezTo>
                <a:cubicBezTo>
                  <a:pt x="70736" y="0"/>
                  <a:pt x="91138" y="20051"/>
                  <a:pt x="91138" y="44785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Graphic 22">
            <a:extLst>
              <a:ext uri="{FF2B5EF4-FFF2-40B4-BE49-F238E27FC236}">
                <a16:creationId xmlns:a16="http://schemas.microsoft.com/office/drawing/2014/main" id="{53AA89D1-0C70-46BB-8E35-5722A4B18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5691" y="2177021"/>
            <a:ext cx="95785" cy="125516"/>
          </a:xfrm>
          <a:custGeom>
            <a:avLst/>
            <a:gdLst>
              <a:gd name="connsiteX0" fmla="*/ 63857 w 127714"/>
              <a:gd name="connsiteY0" fmla="*/ 18549 h 125516"/>
              <a:gd name="connsiteX1" fmla="*/ 108840 w 127714"/>
              <a:gd name="connsiteY1" fmla="*/ 62758 h 125516"/>
              <a:gd name="connsiteX2" fmla="*/ 63857 w 127714"/>
              <a:gd name="connsiteY2" fmla="*/ 106967 h 125516"/>
              <a:gd name="connsiteX3" fmla="*/ 18874 w 127714"/>
              <a:gd name="connsiteY3" fmla="*/ 62758 h 125516"/>
              <a:gd name="connsiteX4" fmla="*/ 63857 w 127714"/>
              <a:gd name="connsiteY4" fmla="*/ 18549 h 125516"/>
              <a:gd name="connsiteX5" fmla="*/ 63857 w 127714"/>
              <a:gd name="connsiteY5" fmla="*/ 0 h 125516"/>
              <a:gd name="connsiteX6" fmla="*/ 0 w 127714"/>
              <a:gd name="connsiteY6" fmla="*/ 62758 h 125516"/>
              <a:gd name="connsiteX7" fmla="*/ 63857 w 127714"/>
              <a:gd name="connsiteY7" fmla="*/ 125516 h 125516"/>
              <a:gd name="connsiteX8" fmla="*/ 127714 w 127714"/>
              <a:gd name="connsiteY8" fmla="*/ 62758 h 125516"/>
              <a:gd name="connsiteX9" fmla="*/ 63857 w 127714"/>
              <a:gd name="connsiteY9" fmla="*/ 0 h 125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5516">
                <a:moveTo>
                  <a:pt x="63857" y="18549"/>
                </a:moveTo>
                <a:cubicBezTo>
                  <a:pt x="88700" y="18549"/>
                  <a:pt x="108840" y="38342"/>
                  <a:pt x="108840" y="62758"/>
                </a:cubicBezTo>
                <a:cubicBezTo>
                  <a:pt x="108840" y="87174"/>
                  <a:pt x="88700" y="106967"/>
                  <a:pt x="63857" y="106967"/>
                </a:cubicBezTo>
                <a:cubicBezTo>
                  <a:pt x="39014" y="106967"/>
                  <a:pt x="18874" y="87174"/>
                  <a:pt x="18874" y="62758"/>
                </a:cubicBezTo>
                <a:cubicBezTo>
                  <a:pt x="18898" y="38352"/>
                  <a:pt x="39024" y="18573"/>
                  <a:pt x="63857" y="18549"/>
                </a:cubicBezTo>
                <a:moveTo>
                  <a:pt x="63857" y="0"/>
                </a:moveTo>
                <a:cubicBezTo>
                  <a:pt x="28590" y="0"/>
                  <a:pt x="0" y="28098"/>
                  <a:pt x="0" y="62758"/>
                </a:cubicBezTo>
                <a:cubicBezTo>
                  <a:pt x="0" y="97418"/>
                  <a:pt x="28590" y="125516"/>
                  <a:pt x="63857" y="125516"/>
                </a:cubicBezTo>
                <a:cubicBezTo>
                  <a:pt x="99124" y="125516"/>
                  <a:pt x="127714" y="97418"/>
                  <a:pt x="127714" y="62758"/>
                </a:cubicBezTo>
                <a:cubicBezTo>
                  <a:pt x="127714" y="28098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36E2F7-F81C-3D6F-FA6C-4FE103998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7" y="6182308"/>
            <a:ext cx="2861239" cy="4645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2086" y="334131"/>
            <a:ext cx="6996076" cy="16410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/>
            <a:r>
              <a:rPr lang="en-US" sz="7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Normas </a:t>
            </a:r>
            <a:r>
              <a:rPr lang="en-US" sz="7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críticas</a:t>
            </a:r>
            <a:endParaRPr lang="en-US" sz="7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C1997EA-0E98-4981-AE6B-98DA74E5882F}"/>
              </a:ext>
            </a:extLst>
          </p:cNvPr>
          <p:cNvSpPr txBox="1"/>
          <p:nvPr/>
        </p:nvSpPr>
        <p:spPr>
          <a:xfrm>
            <a:off x="1060891" y="1767866"/>
            <a:ext cx="7598228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AR" dirty="0"/>
              <a:t>Respetar tiempo máximo permitido/recomendado que garantice la frescura del producto.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826DE3C-7558-27B7-6FAE-223315F0C8EB}"/>
              </a:ext>
            </a:extLst>
          </p:cNvPr>
          <p:cNvSpPr txBox="1"/>
          <p:nvPr/>
        </p:nvSpPr>
        <p:spPr>
          <a:xfrm>
            <a:off x="1060891" y="2712466"/>
            <a:ext cx="7598228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AR" dirty="0"/>
              <a:t>No mezclar productos con diferente etiqueta, diferente sabor o en diferentes establecimientos.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2EE80A4-B8BD-B9DA-55C3-70E15C79B467}"/>
              </a:ext>
            </a:extLst>
          </p:cNvPr>
          <p:cNvSpPr txBox="1"/>
          <p:nvPr/>
        </p:nvSpPr>
        <p:spPr>
          <a:xfrm>
            <a:off x="1060891" y="3722458"/>
            <a:ext cx="759822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AR" dirty="0"/>
              <a:t>En caso de ser posible, misma fecha de vencimiento.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C8653B4-D7E2-91B3-6D2C-BC719898F0A1}"/>
              </a:ext>
            </a:extLst>
          </p:cNvPr>
          <p:cNvSpPr txBox="1"/>
          <p:nvPr/>
        </p:nvSpPr>
        <p:spPr>
          <a:xfrm>
            <a:off x="1060891" y="4443804"/>
            <a:ext cx="7598228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AR" dirty="0"/>
              <a:t>Al </a:t>
            </a:r>
            <a:r>
              <a:rPr lang="es-AR" dirty="0" err="1"/>
              <a:t>reempacar</a:t>
            </a:r>
            <a:r>
              <a:rPr lang="es-AR" dirty="0"/>
              <a:t> no se podrá modificar la cantidad original de unidades que corresponda a la presentación.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1583465-ABF8-43B8-9C18-4A2E4BDE5FE6}"/>
              </a:ext>
            </a:extLst>
          </p:cNvPr>
          <p:cNvSpPr txBox="1"/>
          <p:nvPr/>
        </p:nvSpPr>
        <p:spPr>
          <a:xfrm>
            <a:off x="1060891" y="5373652"/>
            <a:ext cx="7598228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AR" dirty="0"/>
              <a:t>Todos los productos deben estar en perfectas condiciones, aptos para la venta.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4493" y="2228692"/>
            <a:ext cx="3165993" cy="335280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defTabSz="914400">
              <a:spcBef>
                <a:spcPts val="1000"/>
              </a:spcBef>
            </a:pP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Empaque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secundario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defectuoso</a:t>
            </a:r>
            <a:r>
              <a:rPr lang="en-US" sz="2400" dirty="0">
                <a:solidFill>
                  <a:srgbClr val="FFFFFF"/>
                </a:solidFill>
              </a:rPr>
              <a:t>, </a:t>
            </a:r>
            <a:r>
              <a:rPr lang="en-US" sz="2400" dirty="0" err="1">
                <a:solidFill>
                  <a:srgbClr val="FFFFFF"/>
                </a:solidFill>
              </a:rPr>
              <a:t>pero</a:t>
            </a:r>
            <a:r>
              <a:rPr lang="en-US" sz="2400" dirty="0">
                <a:solidFill>
                  <a:srgbClr val="FFFFFF"/>
                </a:solidFill>
              </a:rPr>
              <a:t> la </a:t>
            </a:r>
            <a:r>
              <a:rPr lang="en-US" sz="2400" dirty="0" err="1">
                <a:solidFill>
                  <a:srgbClr val="FFFFFF"/>
                </a:solidFill>
              </a:rPr>
              <a:t>botella</a:t>
            </a:r>
            <a:r>
              <a:rPr lang="en-US" sz="2400" dirty="0">
                <a:solidFill>
                  <a:srgbClr val="FFFFFF"/>
                </a:solidFill>
              </a:rPr>
              <a:t> no </a:t>
            </a:r>
            <a:r>
              <a:rPr lang="en-US" sz="2400" dirty="0" err="1">
                <a:solidFill>
                  <a:srgbClr val="FFFFFF"/>
                </a:solidFill>
              </a:rPr>
              <a:t>contenga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defectos</a:t>
            </a:r>
            <a:r>
              <a:rPr lang="en-US" sz="2400" dirty="0">
                <a:solidFill>
                  <a:srgbClr val="FFFFFF"/>
                </a:solidFill>
              </a:rPr>
              <a:t> de packaging.</a:t>
            </a:r>
          </a:p>
          <a:p>
            <a:pPr marL="0" indent="0" defTabSz="914400">
              <a:spcBef>
                <a:spcPts val="1000"/>
              </a:spcBef>
              <a:buNone/>
            </a:pPr>
            <a:endParaRPr lang="en-US" sz="2400" dirty="0">
              <a:solidFill>
                <a:srgbClr val="FFFFFF"/>
              </a:solidFill>
            </a:endParaRPr>
          </a:p>
          <a:p>
            <a:pPr defTabSz="914400">
              <a:spcBef>
                <a:spcPts val="1000"/>
              </a:spcBef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Packs con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alguna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Botella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defectuosa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pero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el resto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b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uenas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condiciones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3201" y="2744546"/>
            <a:ext cx="104279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2285" y="29738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1546" y="3198265"/>
            <a:ext cx="95785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5946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ítulo 4">
            <a:extLst>
              <a:ext uri="{FF2B5EF4-FFF2-40B4-BE49-F238E27FC236}">
                <a16:creationId xmlns:a16="http://schemas.microsoft.com/office/drawing/2014/main" id="{841E6157-241E-DD9F-268E-9835B0050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935" y="297189"/>
            <a:ext cx="7886700" cy="1325563"/>
          </a:xfrm>
        </p:spPr>
        <p:txBody>
          <a:bodyPr>
            <a:normAutofit/>
          </a:bodyPr>
          <a:lstStyle/>
          <a:p>
            <a:r>
              <a:rPr lang="es-AR" sz="4800" dirty="0">
                <a:solidFill>
                  <a:schemeClr val="bg2"/>
                </a:solidFill>
              </a:rPr>
              <a:t>Reempaque botellas PET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F558FE7-121F-B71A-E22F-1ACE7C34535D}"/>
              </a:ext>
            </a:extLst>
          </p:cNvPr>
          <p:cNvSpPr txBox="1"/>
          <p:nvPr/>
        </p:nvSpPr>
        <p:spPr>
          <a:xfrm>
            <a:off x="1264493" y="6099146"/>
            <a:ext cx="7513490" cy="46166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342900" indent="-342900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Reempaque</a:t>
            </a:r>
            <a:r>
              <a:rPr lang="en-US" sz="2400" dirty="0"/>
              <a:t> </a:t>
            </a:r>
            <a:r>
              <a:rPr lang="en-US" sz="2400" dirty="0" err="1"/>
              <a:t>realizado</a:t>
            </a:r>
            <a:r>
              <a:rPr lang="en-US" sz="2400" dirty="0"/>
              <a:t> con film </a:t>
            </a:r>
            <a:r>
              <a:rPr lang="en-US" sz="2400" dirty="0" err="1"/>
              <a:t>termo</a:t>
            </a:r>
            <a:r>
              <a:rPr lang="en-US" sz="2400" dirty="0"/>
              <a:t> </a:t>
            </a:r>
            <a:r>
              <a:rPr lang="en-US" sz="2400" dirty="0" err="1"/>
              <a:t>contraible</a:t>
            </a:r>
            <a:r>
              <a:rPr lang="en-US" sz="2400" dirty="0"/>
              <a:t>.</a:t>
            </a:r>
            <a:endParaRPr lang="en-US" sz="24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755DC2-04CD-EF63-4A2D-13CE088AAEFA}"/>
              </a:ext>
            </a:extLst>
          </p:cNvPr>
          <p:cNvSpPr txBox="1"/>
          <p:nvPr/>
        </p:nvSpPr>
        <p:spPr>
          <a:xfrm>
            <a:off x="4954362" y="2036932"/>
            <a:ext cx="3665762" cy="354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 No </a:t>
            </a:r>
            <a:r>
              <a:rPr lang="en-US" sz="2400" dirty="0" err="1">
                <a:solidFill>
                  <a:srgbClr val="FFFFFF"/>
                </a:solidFill>
              </a:rPr>
              <a:t>reempacar</a:t>
            </a:r>
            <a:r>
              <a:rPr lang="en-US" sz="2400" dirty="0">
                <a:solidFill>
                  <a:srgbClr val="FFFFFF"/>
                </a:solidFill>
              </a:rPr>
              <a:t> Botellas con </a:t>
            </a:r>
            <a:r>
              <a:rPr lang="en-US" sz="2400" dirty="0" err="1">
                <a:solidFill>
                  <a:srgbClr val="FFFFFF"/>
                </a:solidFill>
              </a:rPr>
              <a:t>defectos</a:t>
            </a:r>
            <a:r>
              <a:rPr lang="en-US" sz="2400" dirty="0">
                <a:solidFill>
                  <a:srgbClr val="FFFFFF"/>
                </a:solidFill>
              </a:rPr>
              <a:t> de packaging.</a:t>
            </a:r>
          </a:p>
          <a:p>
            <a:pPr marL="342900" indent="-342900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No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reempacar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botellas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provenientes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de un pack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que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presenta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evidencia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haber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estado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expuesto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al sol/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calor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y/o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humedad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8894B2F-16DE-6074-E5BF-39902267DF50}"/>
              </a:ext>
            </a:extLst>
          </p:cNvPr>
          <p:cNvSpPr txBox="1"/>
          <p:nvPr/>
        </p:nvSpPr>
        <p:spPr>
          <a:xfrm>
            <a:off x="2296886" y="1371564"/>
            <a:ext cx="6531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b="1" i="0" dirty="0">
                <a:solidFill>
                  <a:srgbClr val="0D0D0D"/>
                </a:solidFill>
                <a:effectLst/>
                <a:latin typeface="-apple-system-body"/>
              </a:rPr>
              <a:t>✓</a:t>
            </a:r>
            <a:endParaRPr lang="es-AR" sz="3200" dirty="0"/>
          </a:p>
        </p:txBody>
      </p:sp>
      <p:sp>
        <p:nvSpPr>
          <p:cNvPr id="17" name="Signo de multiplicación 16">
            <a:extLst>
              <a:ext uri="{FF2B5EF4-FFF2-40B4-BE49-F238E27FC236}">
                <a16:creationId xmlns:a16="http://schemas.microsoft.com/office/drawing/2014/main" id="{B2876378-9B5F-1A91-FA8F-759652B8069D}"/>
              </a:ext>
            </a:extLst>
          </p:cNvPr>
          <p:cNvSpPr/>
          <p:nvPr/>
        </p:nvSpPr>
        <p:spPr>
          <a:xfrm>
            <a:off x="6193973" y="1259170"/>
            <a:ext cx="892628" cy="750484"/>
          </a:xfrm>
          <a:prstGeom prst="mathMultiply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0F8F5C-8D81-244F-4BC3-3D6AAAD13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8B48A96-3B9D-3271-DCA0-D94767ED9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93237-D1F2-151F-9D8D-06BAA9640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452" y="2501963"/>
            <a:ext cx="3589264" cy="3669881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ts val="1000"/>
              </a:spcBef>
            </a:pP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Empaque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secundario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defectuoso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pero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lata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no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contenga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defectos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packaging.</a:t>
            </a:r>
          </a:p>
          <a:p>
            <a:pPr marL="0" indent="0" defTabSz="914400">
              <a:spcBef>
                <a:spcPts val="1000"/>
              </a:spcBef>
              <a:buNone/>
            </a:pPr>
            <a:endParaRPr lang="en-US" sz="2400" dirty="0">
              <a:solidFill>
                <a:srgbClr val="FFFFFF"/>
              </a:solidFill>
            </a:endParaRPr>
          </a:p>
          <a:p>
            <a:pPr defTabSz="914400">
              <a:spcBef>
                <a:spcPts val="1000"/>
              </a:spcBef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Packs con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alguna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lata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defectuosa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pero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el resto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bu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enas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condiciones</a:t>
            </a:r>
            <a:endParaRPr lang="en-US" sz="2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97C801BF-4E38-DC35-F8E5-C211BC47B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3201" y="2744546"/>
            <a:ext cx="104279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AEDFD809-C9FC-AC06-5C64-0C2F28AFB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2285" y="29738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194471D-D84F-13AA-74C9-C2E850240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1546" y="3198265"/>
            <a:ext cx="95785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657567-2C93-7FB3-641A-C2365BEF0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5946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ítulo 4">
            <a:extLst>
              <a:ext uri="{FF2B5EF4-FFF2-40B4-BE49-F238E27FC236}">
                <a16:creationId xmlns:a16="http://schemas.microsoft.com/office/drawing/2014/main" id="{8F3BB1B2-EDDF-E7F9-A864-2D226C5F3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6964"/>
            <a:ext cx="7886700" cy="1325563"/>
          </a:xfrm>
        </p:spPr>
        <p:txBody>
          <a:bodyPr>
            <a:normAutofit/>
          </a:bodyPr>
          <a:lstStyle/>
          <a:p>
            <a:r>
              <a:rPr lang="es-AR" sz="5400" dirty="0">
                <a:solidFill>
                  <a:schemeClr val="bg2"/>
                </a:solidFill>
              </a:rPr>
              <a:t>Reempaque latas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B959D58-946B-38BA-FE30-763EECF7BE1E}"/>
              </a:ext>
            </a:extLst>
          </p:cNvPr>
          <p:cNvSpPr txBox="1"/>
          <p:nvPr/>
        </p:nvSpPr>
        <p:spPr>
          <a:xfrm>
            <a:off x="2057399" y="1552527"/>
            <a:ext cx="6531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b="1" i="0" dirty="0">
                <a:solidFill>
                  <a:srgbClr val="0D0D0D"/>
                </a:solidFill>
                <a:effectLst/>
                <a:latin typeface="-apple-system-body"/>
              </a:rPr>
              <a:t>✓</a:t>
            </a:r>
            <a:endParaRPr lang="es-AR" sz="3200" dirty="0"/>
          </a:p>
        </p:txBody>
      </p:sp>
      <p:sp>
        <p:nvSpPr>
          <p:cNvPr id="7" name="Signo de multiplicación 6">
            <a:extLst>
              <a:ext uri="{FF2B5EF4-FFF2-40B4-BE49-F238E27FC236}">
                <a16:creationId xmlns:a16="http://schemas.microsoft.com/office/drawing/2014/main" id="{14ABCFFF-C555-8647-D34C-0DC22E5D71A5}"/>
              </a:ext>
            </a:extLst>
          </p:cNvPr>
          <p:cNvSpPr/>
          <p:nvPr/>
        </p:nvSpPr>
        <p:spPr>
          <a:xfrm>
            <a:off x="6466120" y="1431353"/>
            <a:ext cx="979709" cy="755101"/>
          </a:xfrm>
          <a:prstGeom prst="mathMultiply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D08CF54-54E0-92EF-A4D5-824A5D751E4A}"/>
              </a:ext>
            </a:extLst>
          </p:cNvPr>
          <p:cNvSpPr txBox="1"/>
          <p:nvPr/>
        </p:nvSpPr>
        <p:spPr>
          <a:xfrm>
            <a:off x="5001987" y="2501963"/>
            <a:ext cx="3683224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No </a:t>
            </a:r>
            <a:r>
              <a:rPr lang="en-US" sz="2400" dirty="0" err="1">
                <a:solidFill>
                  <a:srgbClr val="FFFFFF"/>
                </a:solidFill>
              </a:rPr>
              <a:t>reempacar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latas</a:t>
            </a:r>
            <a:r>
              <a:rPr lang="en-US" sz="2400" dirty="0">
                <a:solidFill>
                  <a:srgbClr val="FFFFFF"/>
                </a:solidFill>
              </a:rPr>
              <a:t> con </a:t>
            </a:r>
            <a:r>
              <a:rPr lang="en-US" sz="2400" dirty="0" err="1">
                <a:solidFill>
                  <a:srgbClr val="FFFFFF"/>
                </a:solidFill>
              </a:rPr>
              <a:t>defectos</a:t>
            </a:r>
            <a:r>
              <a:rPr lang="en-US" sz="2400" dirty="0">
                <a:solidFill>
                  <a:srgbClr val="FFFFFF"/>
                </a:solidFill>
              </a:rPr>
              <a:t> de packaging.</a:t>
            </a:r>
          </a:p>
          <a:p>
            <a:pPr marL="342900" indent="-342900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No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reempacar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latas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provenientes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de un pack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que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presenta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evidencia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haber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estado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expuestoo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al sol/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calor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y/o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humedad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673E81A-DD25-FF6D-DC26-AD49C1B85BCE}"/>
              </a:ext>
            </a:extLst>
          </p:cNvPr>
          <p:cNvSpPr txBox="1"/>
          <p:nvPr/>
        </p:nvSpPr>
        <p:spPr>
          <a:xfrm>
            <a:off x="1382490" y="5992700"/>
            <a:ext cx="7238994" cy="46166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342900" indent="-342900" algn="r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 err="1"/>
              <a:t>Reempaque</a:t>
            </a:r>
            <a:r>
              <a:rPr lang="en-US" sz="2400" dirty="0"/>
              <a:t> </a:t>
            </a:r>
            <a:r>
              <a:rPr lang="en-US" sz="2400" dirty="0" err="1"/>
              <a:t>realizado</a:t>
            </a:r>
            <a:r>
              <a:rPr lang="en-US" sz="2400" dirty="0"/>
              <a:t> con film </a:t>
            </a:r>
            <a:r>
              <a:rPr lang="en-US" sz="2400" dirty="0" err="1"/>
              <a:t>termo</a:t>
            </a:r>
            <a:r>
              <a:rPr lang="en-US" sz="2400" dirty="0"/>
              <a:t> </a:t>
            </a:r>
            <a:r>
              <a:rPr lang="en-US" sz="2400" dirty="0" err="1"/>
              <a:t>contraible</a:t>
            </a:r>
            <a:endParaRPr lang="en-US" sz="2400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118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816" y="144572"/>
            <a:ext cx="7852368" cy="1468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49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Gestión</a:t>
            </a:r>
            <a:r>
              <a:rPr lang="en-US" sz="4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9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roturas</a:t>
            </a:r>
            <a:endParaRPr lang="en-US" sz="49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7470" y="6054034"/>
            <a:ext cx="4331009" cy="43229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/>
          <a:p>
            <a:pPr marL="0" indent="0" algn="ctr" defTabSz="914400">
              <a:spcBef>
                <a:spcPts val="1000"/>
              </a:spcBef>
              <a:buNone/>
            </a:pPr>
            <a:r>
              <a:rPr lang="en-US" sz="2000" kern="1200" dirty="0" err="1">
                <a:latin typeface="+mn-lt"/>
                <a:ea typeface="+mn-ea"/>
                <a:cs typeface="+mn-cs"/>
              </a:rPr>
              <a:t>Bloquear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, </a:t>
            </a:r>
            <a:r>
              <a:rPr lang="en-US" sz="2000" kern="1200" dirty="0" err="1">
                <a:latin typeface="+mn-lt"/>
                <a:ea typeface="+mn-ea"/>
                <a:cs typeface="+mn-cs"/>
              </a:rPr>
              <a:t>identificar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 y </a:t>
            </a:r>
            <a:r>
              <a:rPr lang="en-US" sz="2000" kern="1200" dirty="0" err="1">
                <a:latin typeface="+mn-lt"/>
                <a:ea typeface="+mn-ea"/>
                <a:cs typeface="+mn-cs"/>
              </a:rPr>
              <a:t>separar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3201" y="2744546"/>
            <a:ext cx="104279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2285" y="29738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1546" y="3198265"/>
            <a:ext cx="95785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5946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8D3F1270-32D6-32F0-D051-84BC4E709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69188"/>
            <a:ext cx="947929" cy="94424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BFEC4B7E-C2E8-4655-784A-35137C59730D}"/>
              </a:ext>
            </a:extLst>
          </p:cNvPr>
          <p:cNvSpPr txBox="1"/>
          <p:nvPr/>
        </p:nvSpPr>
        <p:spPr>
          <a:xfrm>
            <a:off x="1509347" y="2085821"/>
            <a:ext cx="698883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/>
              <a:t>		Producto no apto:</a:t>
            </a:r>
          </a:p>
          <a:p>
            <a:pPr marL="457200" indent="-457200">
              <a:buFontTx/>
              <a:buChar char="-"/>
            </a:pPr>
            <a:r>
              <a:rPr lang="es-AR" sz="2800" dirty="0"/>
              <a:t>No cumple requisitos de calidad.</a:t>
            </a:r>
          </a:p>
          <a:p>
            <a:pPr marL="457200" indent="-457200">
              <a:buFontTx/>
              <a:buChar char="-"/>
            </a:pPr>
            <a:r>
              <a:rPr lang="es-AR" sz="2800" dirty="0"/>
              <a:t>No puede ser recuperada mediante reempaque.</a:t>
            </a:r>
          </a:p>
          <a:p>
            <a:pPr marL="457200" indent="-457200">
              <a:buFontTx/>
              <a:buChar char="-"/>
            </a:pPr>
            <a:r>
              <a:rPr lang="es-AR" sz="2800" dirty="0"/>
              <a:t>Presenta daños.</a:t>
            </a:r>
          </a:p>
          <a:p>
            <a:pPr marL="457200" indent="-457200">
              <a:buFontTx/>
              <a:buChar char="-"/>
            </a:pPr>
            <a:r>
              <a:rPr lang="es-AR" sz="2800" dirty="0"/>
              <a:t>Condiciones que comprometen la integridad, higiene, calidad y/o trazabilidad.</a:t>
            </a:r>
          </a:p>
        </p:txBody>
      </p:sp>
      <p:pic>
        <p:nvPicPr>
          <p:cNvPr id="5" name="Imagen 4" descr="Cervecería Quilmes - Latas de cerveza semi vacias, selladas de fabrica">
            <a:extLst>
              <a:ext uri="{FF2B5EF4-FFF2-40B4-BE49-F238E27FC236}">
                <a16:creationId xmlns:a16="http://schemas.microsoft.com/office/drawing/2014/main" id="{A1F678F6-BCAC-2460-5AEE-687425908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922" y="4970166"/>
            <a:ext cx="2264662" cy="17828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233AD-6144-9D00-9C55-CE2B6D28C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B741AFC-5681-F9AD-6FDE-741E0A689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17DD05-E454-A2F7-026B-819DFEC85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946" y="176564"/>
            <a:ext cx="7405673" cy="859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49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Gestión</a:t>
            </a:r>
            <a:r>
              <a:rPr lang="en-US" sz="4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9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roturas</a:t>
            </a:r>
            <a:endParaRPr lang="en-US" sz="49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B1A3619D-4FD6-3479-54B0-B41490AC6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3201" y="2744546"/>
            <a:ext cx="104279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09C65397-7CB5-71CA-7D79-FB82AF5D5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2285" y="29738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F485D3E8-FADD-BB3A-F62B-8BCD44AD3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1546" y="3198265"/>
            <a:ext cx="95785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7BA3F9-2DE9-9B95-79BC-28E170BB1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5946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2B75AE0A-41A0-34EB-BE5A-9ED37339DCD7}"/>
              </a:ext>
            </a:extLst>
          </p:cNvPr>
          <p:cNvSpPr txBox="1"/>
          <p:nvPr/>
        </p:nvSpPr>
        <p:spPr>
          <a:xfrm>
            <a:off x="1064905" y="1536174"/>
            <a:ext cx="78741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buFont typeface="+mj-lt"/>
              <a:buAutoNum type="arabicPeriod"/>
            </a:pPr>
            <a:r>
              <a:rPr lang="es-AR" sz="2000" b="1" i="0" u="sng" dirty="0">
                <a:solidFill>
                  <a:schemeClr val="bg2"/>
                </a:solidFill>
                <a:effectLst/>
                <a:latin typeface="-apple-system-body"/>
              </a:rPr>
              <a:t>Separar físicamente:</a:t>
            </a:r>
            <a:r>
              <a:rPr lang="es-AR" sz="2000" i="0" dirty="0">
                <a:solidFill>
                  <a:schemeClr val="bg2"/>
                </a:solidFill>
                <a:effectLst/>
                <a:latin typeface="-apple-system-body"/>
              </a:rPr>
              <a:t> </a:t>
            </a:r>
            <a:r>
              <a:rPr lang="es-AR" sz="2000" i="0" dirty="0">
                <a:effectLst/>
                <a:latin typeface="-apple-system-body"/>
              </a:rPr>
              <a:t>Separar</a:t>
            </a:r>
            <a:r>
              <a:rPr lang="es-AR" sz="2000" b="0" i="0" dirty="0">
                <a:solidFill>
                  <a:srgbClr val="0D0D0D"/>
                </a:solidFill>
                <a:effectLst/>
                <a:latin typeface="-apple-system-body"/>
              </a:rPr>
              <a:t> del resto y trasladarlo al sector destinado a producto bloqueado/PRI. </a:t>
            </a:r>
            <a:r>
              <a:rPr lang="es-AR" sz="2000" dirty="0">
                <a:solidFill>
                  <a:srgbClr val="0D0D0D"/>
                </a:solidFill>
                <a:latin typeface="-apple-system-body"/>
              </a:rPr>
              <a:t>Evitar</a:t>
            </a:r>
            <a:r>
              <a:rPr lang="es-AR" sz="2000" b="0" i="0" dirty="0">
                <a:solidFill>
                  <a:srgbClr val="0D0D0D"/>
                </a:solidFill>
                <a:effectLst/>
                <a:latin typeface="-apple-system-body"/>
              </a:rPr>
              <a:t> cualquier posibilidad de mezcla o despacho accidental.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s-AR" sz="2000" b="1" i="0" u="sng" dirty="0">
                <a:solidFill>
                  <a:schemeClr val="bg2"/>
                </a:solidFill>
                <a:effectLst/>
                <a:latin typeface="-apple-system-body"/>
              </a:rPr>
              <a:t>Bloquear el producto en el sistema</a:t>
            </a:r>
            <a:r>
              <a:rPr lang="es-AR" sz="2000" u="sng" dirty="0">
                <a:solidFill>
                  <a:schemeClr val="bg2"/>
                </a:solidFill>
                <a:latin typeface="-apple-system-body"/>
              </a:rPr>
              <a:t>:</a:t>
            </a:r>
            <a:r>
              <a:rPr lang="es-AR" sz="2000" b="0" i="0" dirty="0">
                <a:solidFill>
                  <a:srgbClr val="0D0D0D"/>
                </a:solidFill>
                <a:effectLst/>
                <a:latin typeface="-apple-system-body"/>
              </a:rPr>
              <a:t> </a:t>
            </a:r>
            <a:r>
              <a:rPr lang="es-AR" sz="2000" dirty="0">
                <a:solidFill>
                  <a:srgbClr val="0D0D0D"/>
                </a:solidFill>
                <a:latin typeface="-apple-system-body"/>
              </a:rPr>
              <a:t>R</a:t>
            </a:r>
            <a:r>
              <a:rPr lang="es-AR" sz="2000" b="0" i="0" dirty="0">
                <a:solidFill>
                  <a:srgbClr val="0D0D0D"/>
                </a:solidFill>
                <a:effectLst/>
                <a:latin typeface="-apple-system-body"/>
              </a:rPr>
              <a:t>ealizar el movimiento correspondiente en Chess ERP</a:t>
            </a:r>
            <a:r>
              <a:rPr lang="es-AR" sz="2000" dirty="0">
                <a:solidFill>
                  <a:srgbClr val="0D0D0D"/>
                </a:solidFill>
                <a:latin typeface="-apple-system-body"/>
              </a:rPr>
              <a:t>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s-AR" sz="2000" b="1" i="0" u="sng" dirty="0">
                <a:solidFill>
                  <a:schemeClr val="bg2"/>
                </a:solidFill>
                <a:effectLst/>
                <a:latin typeface="-apple-system-body"/>
              </a:rPr>
              <a:t>Identificar físicamente la mercadería</a:t>
            </a:r>
            <a:r>
              <a:rPr lang="es-AR" sz="2000" u="sng" dirty="0">
                <a:solidFill>
                  <a:schemeClr val="bg2"/>
                </a:solidFill>
                <a:latin typeface="-apple-system-body"/>
              </a:rPr>
              <a:t>:</a:t>
            </a:r>
            <a:r>
              <a:rPr lang="es-AR" sz="2000" b="0" i="0" dirty="0">
                <a:solidFill>
                  <a:srgbClr val="0D0D0D"/>
                </a:solidFill>
                <a:effectLst/>
                <a:latin typeface="-apple-system-body"/>
              </a:rPr>
              <a:t> </a:t>
            </a:r>
            <a:r>
              <a:rPr lang="es-AR" sz="2000" dirty="0">
                <a:solidFill>
                  <a:srgbClr val="0D0D0D"/>
                </a:solidFill>
                <a:latin typeface="-apple-system-body"/>
              </a:rPr>
              <a:t>C</a:t>
            </a:r>
            <a:r>
              <a:rPr lang="es-AR" sz="2000" b="0" i="0" dirty="0">
                <a:solidFill>
                  <a:srgbClr val="0D0D0D"/>
                </a:solidFill>
                <a:effectLst/>
                <a:latin typeface="-apple-system-body"/>
              </a:rPr>
              <a:t>olocar el correspondiente cartel o identificación de bloqueo. 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s-AR" sz="2000" b="1" i="0" u="sng" dirty="0">
                <a:solidFill>
                  <a:schemeClr val="bg2"/>
                </a:solidFill>
                <a:effectLst/>
                <a:latin typeface="-apple-system-body"/>
              </a:rPr>
              <a:t>Registrar la baja o rotura:</a:t>
            </a:r>
            <a:r>
              <a:rPr lang="es-AR" sz="2000" b="1" i="0" dirty="0">
                <a:solidFill>
                  <a:schemeClr val="bg2"/>
                </a:solidFill>
                <a:effectLst/>
                <a:latin typeface="-apple-system-body"/>
              </a:rPr>
              <a:t> </a:t>
            </a:r>
            <a:r>
              <a:rPr lang="es-AR" sz="2000" dirty="0">
                <a:solidFill>
                  <a:srgbClr val="0D0D0D"/>
                </a:solidFill>
                <a:latin typeface="-apple-system-body"/>
              </a:rPr>
              <a:t>D</a:t>
            </a:r>
            <a:r>
              <a:rPr lang="es-AR" sz="2000" b="0" i="0" dirty="0">
                <a:solidFill>
                  <a:srgbClr val="0D0D0D"/>
                </a:solidFill>
                <a:effectLst/>
                <a:latin typeface="-apple-system-body"/>
              </a:rPr>
              <a:t>eja</a:t>
            </a:r>
            <a:r>
              <a:rPr lang="es-AR" sz="2000" dirty="0">
                <a:solidFill>
                  <a:srgbClr val="0D0D0D"/>
                </a:solidFill>
                <a:latin typeface="-apple-system-body"/>
              </a:rPr>
              <a:t>r </a:t>
            </a:r>
            <a:r>
              <a:rPr lang="es-AR" sz="2000" b="0" i="0" dirty="0">
                <a:solidFill>
                  <a:srgbClr val="0D0D0D"/>
                </a:solidFill>
                <a:effectLst/>
                <a:latin typeface="-apple-system-body"/>
              </a:rPr>
              <a:t>constancia de la fecha, producto, lote, cantidad, motivo de la baja y responsable de la operación, asegurando la trazabilidad del producto retirado.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s-AR" sz="2000" b="1" i="0" u="sng" dirty="0">
                <a:solidFill>
                  <a:schemeClr val="bg2"/>
                </a:solidFill>
                <a:effectLst/>
                <a:latin typeface="-apple-system-body"/>
              </a:rPr>
              <a:t>Gestionar su destrucción o disposición final:</a:t>
            </a:r>
            <a:r>
              <a:rPr lang="es-AR" sz="2000" b="0" i="0" u="sng" dirty="0">
                <a:solidFill>
                  <a:schemeClr val="bg2"/>
                </a:solidFill>
                <a:effectLst/>
                <a:latin typeface="-apple-system-body"/>
              </a:rPr>
              <a:t> </a:t>
            </a:r>
            <a:r>
              <a:rPr lang="es-AR" sz="2000" dirty="0">
                <a:solidFill>
                  <a:srgbClr val="0D0D0D"/>
                </a:solidFill>
                <a:latin typeface="-apple-system-body"/>
              </a:rPr>
              <a:t>Gestionar </a:t>
            </a:r>
            <a:r>
              <a:rPr lang="es-AR" sz="2000" b="0" i="0" dirty="0">
                <a:solidFill>
                  <a:srgbClr val="0D0D0D"/>
                </a:solidFill>
                <a:effectLst/>
                <a:latin typeface="-apple-system-body"/>
              </a:rPr>
              <a:t>de acuerdo con el procedimiento interno establecido para productos no comercializables.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B0C75D4-5DF2-D8F4-B717-CE99D8FC6267}"/>
              </a:ext>
            </a:extLst>
          </p:cNvPr>
          <p:cNvSpPr txBox="1"/>
          <p:nvPr/>
        </p:nvSpPr>
        <p:spPr>
          <a:xfrm>
            <a:off x="975945" y="5953512"/>
            <a:ext cx="8052061" cy="70788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R="0" lvl="0" algn="l"/>
            <a:r>
              <a:rPr lang="es-AR" sz="2000" b="0" i="0" dirty="0">
                <a:solidFill>
                  <a:srgbClr val="0D0D0D"/>
                </a:solidFill>
                <a:effectLst/>
                <a:latin typeface="-apple-system-body"/>
              </a:rPr>
              <a:t>El producto dado de baja no podrá volver a ingresar al stock disponible para la venta ni podrá ser destinado a un nuevo proceso de reempaque.</a:t>
            </a:r>
          </a:p>
        </p:txBody>
      </p:sp>
    </p:spTree>
    <p:extLst>
      <p:ext uri="{BB962C8B-B14F-4D97-AF65-F5344CB8AC3E}">
        <p14:creationId xmlns:p14="http://schemas.microsoft.com/office/powerpoint/2010/main" val="334944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0322" y="583345"/>
            <a:ext cx="5370268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/>
            <a:r>
              <a:rPr lang="en-US" sz="7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Inspección</a:t>
            </a:r>
            <a:r>
              <a:rPr lang="en-US" sz="7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final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36854BF-FD90-3551-DE3A-9591CD9012C0}"/>
              </a:ext>
            </a:extLst>
          </p:cNvPr>
          <p:cNvSpPr txBox="1"/>
          <p:nvPr/>
        </p:nvSpPr>
        <p:spPr>
          <a:xfrm>
            <a:off x="906171" y="2787725"/>
            <a:ext cx="8237829" cy="2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Todos los packs re empacados deben ser inspeccionados antes de ser despachados, para garantizar:</a:t>
            </a:r>
            <a:endParaRPr lang="es-A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MX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 no se encuentren dañados.</a:t>
            </a:r>
            <a:endParaRPr lang="es-A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MX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Integridad.</a:t>
            </a:r>
          </a:p>
          <a:p>
            <a:pPr marL="800100" marR="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s-MX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razabilidad.</a:t>
            </a:r>
          </a:p>
          <a:p>
            <a:pPr marL="800100" marR="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Higiene.</a:t>
            </a:r>
            <a:endParaRPr lang="es-A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F562924-4DD1-229F-F4CB-F6C8A7A9D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287" y="6096759"/>
            <a:ext cx="3048000" cy="6011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0322" y="583345"/>
            <a:ext cx="5370268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/>
            <a:r>
              <a:rPr lang="en-US" sz="7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Compromiso del equipo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6857" y="3386044"/>
            <a:ext cx="6096368" cy="826728"/>
          </a:xfr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 algn="ctr" defTabSz="914400">
              <a:spcBef>
                <a:spcPts val="1000"/>
              </a:spcBef>
              <a:buNone/>
            </a:pPr>
            <a:r>
              <a:rPr lang="en-US" sz="2800" kern="1200" dirty="0">
                <a:latin typeface="+mn-lt"/>
                <a:ea typeface="+mn-ea"/>
                <a:cs typeface="+mn-cs"/>
              </a:rPr>
              <a:t>La </a:t>
            </a:r>
            <a:r>
              <a:rPr lang="en-US" sz="2800" kern="1200" dirty="0" err="1">
                <a:latin typeface="+mn-lt"/>
                <a:ea typeface="+mn-ea"/>
                <a:cs typeface="+mn-cs"/>
              </a:rPr>
              <a:t>calidad</a:t>
            </a:r>
            <a:r>
              <a:rPr lang="en-US" sz="2800" kern="1200" dirty="0">
                <a:latin typeface="+mn-lt"/>
                <a:ea typeface="+mn-ea"/>
                <a:cs typeface="+mn-cs"/>
              </a:rPr>
              <a:t> </a:t>
            </a:r>
            <a:r>
              <a:rPr lang="en-US" sz="2800" kern="1200" dirty="0" err="1">
                <a:latin typeface="+mn-lt"/>
                <a:ea typeface="+mn-ea"/>
                <a:cs typeface="+mn-cs"/>
              </a:rPr>
              <a:t>comienza</a:t>
            </a:r>
            <a:r>
              <a:rPr lang="en-US" sz="2800" kern="1200" dirty="0">
                <a:latin typeface="+mn-lt"/>
                <a:ea typeface="+mn-ea"/>
                <a:cs typeface="+mn-cs"/>
              </a:rPr>
              <a:t> </a:t>
            </a:r>
            <a:r>
              <a:rPr lang="en-US" sz="2800" kern="1200" dirty="0" err="1">
                <a:latin typeface="+mn-lt"/>
                <a:ea typeface="+mn-ea"/>
                <a:cs typeface="+mn-cs"/>
              </a:rPr>
              <a:t>en</a:t>
            </a:r>
            <a:r>
              <a:rPr lang="en-US" sz="2800" kern="1200" dirty="0">
                <a:latin typeface="+mn-lt"/>
                <a:ea typeface="+mn-ea"/>
                <a:cs typeface="+mn-cs"/>
              </a:rPr>
              <a:t> el </a:t>
            </a:r>
            <a:r>
              <a:rPr lang="en-US" sz="2800" kern="1200" dirty="0" err="1">
                <a:latin typeface="+mn-lt"/>
                <a:ea typeface="+mn-ea"/>
                <a:cs typeface="+mn-cs"/>
              </a:rPr>
              <a:t>almacén</a:t>
            </a:r>
            <a:endParaRPr lang="en-US" sz="28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D48AB96-DBCD-3360-1D0B-79B9D7990BB3}"/>
              </a:ext>
            </a:extLst>
          </p:cNvPr>
          <p:cNvSpPr txBox="1"/>
          <p:nvPr/>
        </p:nvSpPr>
        <p:spPr>
          <a:xfrm>
            <a:off x="1489799" y="4682573"/>
            <a:ext cx="6096369" cy="95410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s-AR" sz="2800" dirty="0"/>
              <a:t>Sigamos adelante, mejorando y creciendo juntos!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5000050-1EC5-4A76-9819-8BA4BB4D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045360"/>
            <a:ext cx="3048000" cy="601109"/>
          </a:xfrm>
          <a:prstGeom prst="rect">
            <a:avLst/>
          </a:prstGeom>
        </p:spPr>
      </p:pic>
      <p:pic>
        <p:nvPicPr>
          <p:cNvPr id="9" name="Imagen 8" descr="Nombre de la empresa&#10;&#10;Descripción generada automáticamente">
            <a:extLst>
              <a:ext uri="{FF2B5EF4-FFF2-40B4-BE49-F238E27FC236}">
                <a16:creationId xmlns:a16="http://schemas.microsoft.com/office/drawing/2014/main" id="{0E302C1C-1191-201D-0534-C36310440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361" y="5986086"/>
            <a:ext cx="1892938" cy="71965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</TotalTime>
  <Words>689</Words>
  <Application>Microsoft Office PowerPoint</Application>
  <PresentationFormat>Presentación en pantalla (4:3)</PresentationFormat>
  <Paragraphs>81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ADLaM Display</vt:lpstr>
      <vt:lpstr>-apple-system-body</vt:lpstr>
      <vt:lpstr>Aptos</vt:lpstr>
      <vt:lpstr>Aptos Display</vt:lpstr>
      <vt:lpstr>Arial</vt:lpstr>
      <vt:lpstr>Calibri</vt:lpstr>
      <vt:lpstr>Courier New</vt:lpstr>
      <vt:lpstr>Tema de Office</vt:lpstr>
      <vt:lpstr>Capacitación: Reempaque y Rotura de productos</vt:lpstr>
      <vt:lpstr>¿Qué es el reempaque?</vt:lpstr>
      <vt:lpstr>Objetivos</vt:lpstr>
      <vt:lpstr>EPP obligatorio</vt:lpstr>
      <vt:lpstr>Productos no autorizados</vt:lpstr>
      <vt:lpstr>Proceso paso a paso</vt:lpstr>
      <vt:lpstr>Normas críticas</vt:lpstr>
      <vt:lpstr>Reempaque botellas PET</vt:lpstr>
      <vt:lpstr>Reempaque latas</vt:lpstr>
      <vt:lpstr>Gestión de roturas</vt:lpstr>
      <vt:lpstr>Gestión de roturas</vt:lpstr>
      <vt:lpstr>Inspección final</vt:lpstr>
      <vt:lpstr>Compromiso del equipo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Mario del Palacio</dc:creator>
  <cp:keywords/>
  <dc:description>generated using python-pptx</dc:description>
  <cp:lastModifiedBy>Logistica Del Palacio</cp:lastModifiedBy>
  <cp:revision>9</cp:revision>
  <dcterms:created xsi:type="dcterms:W3CDTF">2013-01-27T09:14:16Z</dcterms:created>
  <dcterms:modified xsi:type="dcterms:W3CDTF">2026-08-26T13:32:05Z</dcterms:modified>
  <cp:category/>
</cp:coreProperties>
</file>