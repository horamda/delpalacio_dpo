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2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4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3736"/>
            <a:ext cx="566928" cy="566928"/>
          </a:xfrm>
          <a:prstGeom prst="rect">
            <a:avLst/>
          </a:prstGeom>
        </p:spPr>
      </p:pic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164592"/>
            <a:ext cx="146304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436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</a:rPr>
              <a:t>Capacitación operativa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481148" y="2194560"/>
            <a:ext cx="7931331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de salida y regreso de camiones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594359" y="4562856"/>
            <a:ext cx="7565571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F6B7A"/>
                </a:solidFill>
              </a:rPr>
              <a:t>Uso de CloudFleet, verificación del vehículo, reporte de incidencias y bloqueo por ítems críticos.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capacitación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buscamos asegurar?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Que cada camión salga y regrese en condiciones seguras, operativas y legales.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31520" y="22402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DEDEC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6"/>
          <p:cNvSpPr/>
          <p:nvPr/>
        </p:nvSpPr>
        <p:spPr>
          <a:xfrm>
            <a:off x="859536" y="2386584"/>
            <a:ext cx="411480" cy="4114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7"/>
          <p:cNvSpPr/>
          <p:nvPr/>
        </p:nvSpPr>
        <p:spPr>
          <a:xfrm>
            <a:off x="859536" y="2459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53312" y="24048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C62828"/>
                </a:solidFill>
              </a:rPr>
              <a:t>Seguridad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60120" y="2807208"/>
            <a:ext cx="25603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Evitar riesgos para conductor, acompañante, </a:t>
            </a:r>
            <a:r>
              <a:rPr lang="en-US" sz="1250" dirty="0" err="1">
                <a:solidFill>
                  <a:srgbClr val="111111"/>
                </a:solidFill>
              </a:rPr>
              <a:t>terceros</a:t>
            </a:r>
            <a:r>
              <a:rPr lang="en-US" sz="1250" dirty="0">
                <a:solidFill>
                  <a:srgbClr val="111111"/>
                </a:solidFill>
              </a:rPr>
              <a:t>, </a:t>
            </a:r>
            <a:r>
              <a:rPr lang="en-US" sz="1250" dirty="0" err="1">
                <a:solidFill>
                  <a:srgbClr val="111111"/>
                </a:solidFill>
              </a:rPr>
              <a:t>flota</a:t>
            </a:r>
            <a:r>
              <a:rPr lang="en-US" sz="1250" dirty="0">
                <a:solidFill>
                  <a:srgbClr val="111111"/>
                </a:solidFill>
              </a:rPr>
              <a:t> y mercadería.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26280" y="22402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EAF3FF"/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4654296" y="2386584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4654296" y="2459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148072" y="24048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2D57"/>
                </a:solidFill>
              </a:rPr>
              <a:t>Cumplimiento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54880" y="2807208"/>
            <a:ext cx="25603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Verificar documentación, habilitación y condiciones para circular.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321040" y="224028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E9F6EA"/>
          </a:solidFill>
          <a:ln w="1651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6"/>
          <p:cNvSpPr/>
          <p:nvPr/>
        </p:nvSpPr>
        <p:spPr>
          <a:xfrm>
            <a:off x="8449056" y="2386584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7"/>
          <p:cNvSpPr/>
          <p:nvPr/>
        </p:nvSpPr>
        <p:spPr>
          <a:xfrm>
            <a:off x="8449056" y="2459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942832" y="24048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Operación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549640" y="2807208"/>
            <a:ext cx="256032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Registrar, corregir y liberar el vehículo antes del próximo uso.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2103120" y="5212080"/>
            <a:ext cx="7955280" cy="640080"/>
          </a:xfrm>
          <a:prstGeom prst="roundRect">
            <a:avLst>
              <a:gd name="adj" fmla="val 11429"/>
            </a:avLst>
          </a:prstGeom>
          <a:solidFill>
            <a:srgbClr val="FFF7E7"/>
          </a:solidFill>
          <a:ln w="1778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1"/>
          <p:cNvSpPr/>
          <p:nvPr/>
        </p:nvSpPr>
        <p:spPr>
          <a:xfrm>
            <a:off x="2304288" y="5349240"/>
            <a:ext cx="7552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Checklist completo = decisión documentada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y EPP obligatorio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8E7FF"/>
                </a:solidFill>
              </a:rPr>
              <a:t>0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iniciar el trabajo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Aplica a conductores de </a:t>
            </a:r>
            <a:r>
              <a:rPr lang="en-US" sz="1700" dirty="0" err="1">
                <a:solidFill>
                  <a:srgbClr val="5F6B7A"/>
                </a:solidFill>
              </a:rPr>
              <a:t>camiones</a:t>
            </a:r>
            <a:r>
              <a:rPr lang="en-US" sz="1700" dirty="0">
                <a:solidFill>
                  <a:srgbClr val="5F6B7A"/>
                </a:solidFill>
              </a:rPr>
              <a:t> y supervisores de flota.</a:t>
            </a:r>
            <a:endParaRPr lang="en-US" sz="1700" dirty="0"/>
          </a:p>
        </p:txBody>
      </p:sp>
      <p:pic>
        <p:nvPicPr>
          <p:cNvPr id="9" name="Image 2" descr="/mnt/data/sop_imgs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70" y="2057400"/>
            <a:ext cx="6586459" cy="31089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35240" y="196596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6"/>
          <p:cNvSpPr/>
          <p:nvPr/>
        </p:nvSpPr>
        <p:spPr>
          <a:xfrm>
            <a:off x="7836408" y="2103120"/>
            <a:ext cx="3209544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Verificar disponibilidad, estado y uso correcto del EPP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7818120" y="3337560"/>
            <a:ext cx="32004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Zapatos de seguridad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Lentes de seguridad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Guantes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Ropa reflectiva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11111"/>
                </a:solidFill>
              </a:rPr>
              <a:t>Casco y faja cuando corresponda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operativo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Secuencia obligatoria del checklist diario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El punto de decisión define si el camión puede circular o queda bloqueado.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1920240" y="3063240"/>
            <a:ext cx="41148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6"/>
          <p:cNvSpPr/>
          <p:nvPr/>
        </p:nvSpPr>
        <p:spPr>
          <a:xfrm>
            <a:off x="3749040" y="3063240"/>
            <a:ext cx="41148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7"/>
          <p:cNvSpPr/>
          <p:nvPr/>
        </p:nvSpPr>
        <p:spPr>
          <a:xfrm>
            <a:off x="5577840" y="3063240"/>
            <a:ext cx="41148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7406640" y="3063240"/>
            <a:ext cx="41148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9"/>
          <p:cNvSpPr/>
          <p:nvPr/>
        </p:nvSpPr>
        <p:spPr>
          <a:xfrm flipV="1">
            <a:off x="8850957" y="2041506"/>
            <a:ext cx="990600" cy="615261"/>
          </a:xfrm>
          <a:prstGeom prst="line">
            <a:avLst/>
          </a:prstGeom>
          <a:noFill/>
          <a:ln w="22860">
            <a:solidFill>
              <a:srgbClr val="2E7D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0"/>
          <p:cNvSpPr/>
          <p:nvPr/>
        </p:nvSpPr>
        <p:spPr>
          <a:xfrm>
            <a:off x="8655449" y="2926080"/>
            <a:ext cx="1234440" cy="1188720"/>
          </a:xfrm>
          <a:prstGeom prst="line">
            <a:avLst/>
          </a:prstGeom>
          <a:noFill/>
          <a:ln w="22860">
            <a:solidFill>
              <a:srgbClr val="C628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 dirty="0"/>
          </a:p>
        </p:txBody>
      </p:sp>
      <p:sp>
        <p:nvSpPr>
          <p:cNvPr id="15" name="Shape 11"/>
          <p:cNvSpPr/>
          <p:nvPr/>
        </p:nvSpPr>
        <p:spPr>
          <a:xfrm>
            <a:off x="731520" y="23317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EAF3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2"/>
          <p:cNvSpPr/>
          <p:nvPr/>
        </p:nvSpPr>
        <p:spPr>
          <a:xfrm>
            <a:off x="1225296" y="201168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1225296" y="2084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0392" y="2743200"/>
            <a:ext cx="11795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7"/>
                </a:solidFill>
              </a:rPr>
              <a:t>Acceso al formulario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560320" y="23317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6"/>
          <p:cNvSpPr/>
          <p:nvPr/>
        </p:nvSpPr>
        <p:spPr>
          <a:xfrm>
            <a:off x="3054096" y="201168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7"/>
          <p:cNvSpPr/>
          <p:nvPr/>
        </p:nvSpPr>
        <p:spPr>
          <a:xfrm>
            <a:off x="3054096" y="2084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679192" y="2743200"/>
            <a:ext cx="11795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7"/>
                </a:solidFill>
              </a:rPr>
              <a:t>Crear checklist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389120" y="23317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Shape 20"/>
          <p:cNvSpPr/>
          <p:nvPr/>
        </p:nvSpPr>
        <p:spPr>
          <a:xfrm>
            <a:off x="4882896" y="201168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Text 21"/>
          <p:cNvSpPr/>
          <p:nvPr/>
        </p:nvSpPr>
        <p:spPr>
          <a:xfrm>
            <a:off x="4882896" y="2084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507992" y="2743200"/>
            <a:ext cx="11795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7"/>
                </a:solidFill>
              </a:rPr>
              <a:t>Verificación del vehículo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217920" y="23317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4"/>
          <p:cNvSpPr/>
          <p:nvPr/>
        </p:nvSpPr>
        <p:spPr>
          <a:xfrm>
            <a:off x="6711696" y="201168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5"/>
          <p:cNvSpPr/>
          <p:nvPr/>
        </p:nvSpPr>
        <p:spPr>
          <a:xfrm>
            <a:off x="6711696" y="20848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336792" y="2743200"/>
            <a:ext cx="11795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7"/>
                </a:solidFill>
              </a:rPr>
              <a:t>Checklist diario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8001000" y="2331720"/>
            <a:ext cx="1645920" cy="1417320"/>
          </a:xfrm>
          <a:prstGeom prst="diamond">
            <a:avLst/>
          </a:prstGeom>
          <a:solidFill>
            <a:srgbClr val="FFF7E7"/>
          </a:solidFill>
          <a:ln w="190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Shape 28"/>
          <p:cNvSpPr/>
          <p:nvPr/>
        </p:nvSpPr>
        <p:spPr>
          <a:xfrm>
            <a:off x="8279457" y="1956816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29"/>
          <p:cNvSpPr/>
          <p:nvPr/>
        </p:nvSpPr>
        <p:spPr>
          <a:xfrm>
            <a:off x="8279457" y="20299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229600" y="2761488"/>
            <a:ext cx="1170432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D57"/>
                </a:solidFill>
              </a:rPr>
              <a:t>¿El checklist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D57"/>
                </a:solidFill>
              </a:rPr>
              <a:t>es aprobado?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9921240" y="160020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E9F6EA"/>
          </a:solidFill>
          <a:ln w="1778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Text 32"/>
          <p:cNvSpPr/>
          <p:nvPr/>
        </p:nvSpPr>
        <p:spPr>
          <a:xfrm>
            <a:off x="10122408" y="1737360"/>
            <a:ext cx="138074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</a:rPr>
              <a:t>SÍ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</a:rPr>
              <a:t>Vehículo APTO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</a:rPr>
              <a:t>Continuar ruta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9921240" y="4160520"/>
            <a:ext cx="1783080" cy="1005840"/>
          </a:xfrm>
          <a:prstGeom prst="roundRect">
            <a:avLst>
              <a:gd name="adj" fmla="val 7273"/>
            </a:avLst>
          </a:prstGeom>
          <a:solidFill>
            <a:srgbClr val="FDEDEC"/>
          </a:solidFill>
          <a:ln w="1778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8" name="Text 34"/>
          <p:cNvSpPr/>
          <p:nvPr/>
        </p:nvSpPr>
        <p:spPr>
          <a:xfrm>
            <a:off x="10122408" y="4297680"/>
            <a:ext cx="1380744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NO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RECHAZADO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Bloquear salida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2011680" y="5166360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EAF3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Text 36"/>
          <p:cNvSpPr/>
          <p:nvPr/>
        </p:nvSpPr>
        <p:spPr>
          <a:xfrm>
            <a:off x="2212848" y="5303520"/>
            <a:ext cx="737006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Completar y enviar el checklist en CloudFleet antes de iniciar ruta.</a:t>
            </a:r>
            <a:endParaRPr lang="en-US" sz="1700" dirty="0"/>
          </a:p>
        </p:txBody>
      </p:sp>
      <p:sp>
        <p:nvSpPr>
          <p:cNvPr id="41" name="Text 37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| Checklist de salida y regreso de camiones | 4</a:t>
            </a:r>
            <a:endParaRPr lang="en-US" sz="750" dirty="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E0DBE1F9-1231-90B5-AAB4-F00F95E529CE}"/>
              </a:ext>
            </a:extLst>
          </p:cNvPr>
          <p:cNvSpPr/>
          <p:nvPr/>
        </p:nvSpPr>
        <p:spPr>
          <a:xfrm>
            <a:off x="1092055" y="5861303"/>
            <a:ext cx="9601200" cy="713232"/>
          </a:xfrm>
          <a:prstGeom prst="roundRect">
            <a:avLst>
              <a:gd name="adj" fmla="val 10256"/>
            </a:avLst>
          </a:prstGeom>
          <a:solidFill>
            <a:srgbClr val="FDEDEC"/>
          </a:solidFill>
          <a:ln w="1778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832CF74B-DD06-32F8-68F8-4C595BFDABB8}"/>
              </a:ext>
            </a:extLst>
          </p:cNvPr>
          <p:cNvSpPr/>
          <p:nvPr/>
        </p:nvSpPr>
        <p:spPr>
          <a:xfrm>
            <a:off x="1293223" y="5998463"/>
            <a:ext cx="9198864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Ningún conductor puede decidir por cuenta propia usar un vehículo rechazado.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de CloudFleet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crear y comenzar el checklist?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Secuencia práctica para el dispositivo móvil del camión.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6"/>
          <p:cNvSpPr/>
          <p:nvPr/>
        </p:nvSpPr>
        <p:spPr>
          <a:xfrm>
            <a:off x="731520" y="222199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34440" y="21854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D57"/>
                </a:solidFill>
              </a:rPr>
              <a:t>Abrir App CloudFleet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24505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Ingresar desde el dispositivo móvil asignado al camión.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297180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0"/>
          <p:cNvSpPr/>
          <p:nvPr/>
        </p:nvSpPr>
        <p:spPr>
          <a:xfrm>
            <a:off x="731520" y="3044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234440" y="30083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D57"/>
                </a:solidFill>
              </a:rPr>
              <a:t>Checklist → + Crear checklist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34440" y="327355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Seleccionar el apartado correspondiente.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4"/>
          <p:cNvSpPr/>
          <p:nvPr/>
        </p:nvSpPr>
        <p:spPr>
          <a:xfrm>
            <a:off x="731520" y="38679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234440" y="383133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D57"/>
                </a:solidFill>
              </a:rPr>
              <a:t>Esperar ubicación → Continuar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234440" y="4096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Verificar que la app tome ubicación antes de avanzar.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31520" y="4617720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Text 18"/>
          <p:cNvSpPr/>
          <p:nvPr/>
        </p:nvSpPr>
        <p:spPr>
          <a:xfrm>
            <a:off x="731520" y="46908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234440" y="4654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D57"/>
                </a:solidFill>
              </a:rPr>
              <a:t>Seleccionar Checklist diario camiones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234440" y="499436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B7A"/>
                </a:solidFill>
              </a:rPr>
              <a:t>Cargar odómetro actual y presionar “Comenzar”.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5532120" y="2084832"/>
            <a:ext cx="2743200" cy="4114800"/>
          </a:xfrm>
          <a:prstGeom prst="roundRect">
            <a:avLst>
              <a:gd name="adj" fmla="val 6667"/>
            </a:avLst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2"/>
          <p:cNvSpPr/>
          <p:nvPr/>
        </p:nvSpPr>
        <p:spPr>
          <a:xfrm>
            <a:off x="5760720" y="2404872"/>
            <a:ext cx="2286000" cy="32918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DE7F1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3"/>
          <p:cNvSpPr/>
          <p:nvPr/>
        </p:nvSpPr>
        <p:spPr>
          <a:xfrm>
            <a:off x="6035040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5FAE"/>
                </a:solidFill>
              </a:rPr>
              <a:t>CloudFleet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080760" y="3255264"/>
            <a:ext cx="16459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Checklist diario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camiones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6126480" y="4233672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9F6EA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6"/>
          <p:cNvSpPr/>
          <p:nvPr/>
        </p:nvSpPr>
        <p:spPr>
          <a:xfrm>
            <a:off x="6236208" y="430682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</a:rPr>
              <a:t>+ Crear checklist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126480" y="4782312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1524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Text 28"/>
          <p:cNvSpPr/>
          <p:nvPr/>
        </p:nvSpPr>
        <p:spPr>
          <a:xfrm>
            <a:off x="6236208" y="4855464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5FAE"/>
                </a:solidFill>
              </a:rPr>
              <a:t>Comenzar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5</a:t>
            </a:r>
            <a:endParaRPr lang="en-US" sz="75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E910705-A68E-FBB9-35B1-8BD9F09AFE79}"/>
              </a:ext>
            </a:extLst>
          </p:cNvPr>
          <p:cNvSpPr/>
          <p:nvPr/>
        </p:nvSpPr>
        <p:spPr>
          <a:xfrm>
            <a:off x="8525691" y="1581912"/>
            <a:ext cx="3579223" cy="46177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C3299AA2-8B91-E7A2-87E7-90F92E610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1837944"/>
            <a:ext cx="3429000" cy="4082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 del vehículo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se 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debe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El conductor verifica y marca el estado de cada ítem antes de salir.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" y="2011680"/>
            <a:ext cx="4526280" cy="1143000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 dirty="0">
              <a:solidFill>
                <a:srgbClr val="EE0000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905256" y="2157984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7"/>
          <p:cNvSpPr/>
          <p:nvPr/>
        </p:nvSpPr>
        <p:spPr>
          <a:xfrm>
            <a:off x="905256" y="22311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99032" y="21762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0B2D57"/>
                </a:solidFill>
              </a:rPr>
              <a:t>Documentacion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05256" y="2457704"/>
            <a:ext cx="4069080" cy="678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250" dirty="0">
              <a:solidFill>
                <a:srgbClr val="EE0000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26480" y="2011680"/>
            <a:ext cx="4526280" cy="1143000"/>
          </a:xfrm>
          <a:prstGeom prst="roundRect">
            <a:avLst>
              <a:gd name="adj" fmla="val 6400"/>
            </a:avLst>
          </a:prstGeom>
          <a:solidFill>
            <a:schemeClr val="accent5">
              <a:lumMod val="20000"/>
              <a:lumOff val="80000"/>
            </a:schemeClr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6254496" y="2157984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6254496" y="22311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48272" y="21762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7"/>
                </a:solidFill>
              </a:rPr>
              <a:t>Botiquín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355080" y="2578608"/>
            <a:ext cx="4069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Precintado y en buen estado.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77240" y="3643884"/>
            <a:ext cx="4526280" cy="1143000"/>
          </a:xfrm>
          <a:prstGeom prst="roundRect">
            <a:avLst>
              <a:gd name="adj" fmla="val 6400"/>
            </a:avLst>
          </a:prstGeom>
          <a:solidFill>
            <a:schemeClr val="accent5">
              <a:lumMod val="20000"/>
              <a:lumOff val="80000"/>
            </a:schemeClr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Shape 16"/>
          <p:cNvSpPr/>
          <p:nvPr/>
        </p:nvSpPr>
        <p:spPr>
          <a:xfrm>
            <a:off x="905256" y="3758184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1" name="Text 17"/>
          <p:cNvSpPr/>
          <p:nvPr/>
        </p:nvSpPr>
        <p:spPr>
          <a:xfrm>
            <a:off x="905256" y="38313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399032" y="37764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B2D57"/>
                </a:solidFill>
              </a:rPr>
              <a:t>Elementos</a:t>
            </a:r>
            <a:r>
              <a:rPr lang="en-US" sz="1800" b="1" dirty="0">
                <a:solidFill>
                  <a:srgbClr val="0B2D57"/>
                </a:solidFill>
              </a:rPr>
              <a:t> </a:t>
            </a:r>
            <a:r>
              <a:rPr lang="en-US" sz="1800" b="1" dirty="0" err="1">
                <a:solidFill>
                  <a:srgbClr val="0B2D57"/>
                </a:solidFill>
              </a:rPr>
              <a:t>basicos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005840" y="4178808"/>
            <a:ext cx="4069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111111"/>
                </a:solidFill>
              </a:rPr>
              <a:t>Matafuego</a:t>
            </a:r>
            <a:r>
              <a:rPr lang="en-US" sz="1250" dirty="0">
                <a:solidFill>
                  <a:srgbClr val="111111"/>
                </a:solidFill>
              </a:rPr>
              <a:t>, </a:t>
            </a:r>
            <a:r>
              <a:rPr lang="en-US" sz="1250" dirty="0" err="1">
                <a:solidFill>
                  <a:srgbClr val="111111"/>
                </a:solidFill>
              </a:rPr>
              <a:t>conos</a:t>
            </a:r>
            <a:r>
              <a:rPr lang="en-US" sz="1250" dirty="0">
                <a:solidFill>
                  <a:srgbClr val="111111"/>
                </a:solidFill>
              </a:rPr>
              <a:t>, </a:t>
            </a:r>
            <a:r>
              <a:rPr lang="en-US" sz="1250" dirty="0" err="1">
                <a:solidFill>
                  <a:srgbClr val="111111"/>
                </a:solidFill>
              </a:rPr>
              <a:t>bolsin</a:t>
            </a:r>
            <a:r>
              <a:rPr lang="en-US" sz="1250" dirty="0">
                <a:solidFill>
                  <a:srgbClr val="111111"/>
                </a:solidFill>
              </a:rPr>
              <a:t> de </a:t>
            </a:r>
            <a:r>
              <a:rPr lang="en-US" sz="1250" dirty="0" err="1">
                <a:solidFill>
                  <a:srgbClr val="111111"/>
                </a:solidFill>
              </a:rPr>
              <a:t>pedidos</a:t>
            </a:r>
            <a:r>
              <a:rPr lang="en-US" sz="1250" dirty="0">
                <a:solidFill>
                  <a:srgbClr val="111111"/>
                </a:solidFill>
              </a:rPr>
              <a:t>. 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126480" y="3611880"/>
            <a:ext cx="4526280" cy="1143000"/>
          </a:xfrm>
          <a:prstGeom prst="roundRect">
            <a:avLst>
              <a:gd name="adj" fmla="val 6400"/>
            </a:avLst>
          </a:prstGeom>
          <a:solidFill>
            <a:schemeClr val="accent5">
              <a:lumMod val="20000"/>
              <a:lumOff val="80000"/>
            </a:schemeClr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1"/>
          <p:cNvSpPr/>
          <p:nvPr/>
        </p:nvSpPr>
        <p:spPr>
          <a:xfrm>
            <a:off x="6254496" y="3758184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2"/>
          <p:cNvSpPr/>
          <p:nvPr/>
        </p:nvSpPr>
        <p:spPr>
          <a:xfrm>
            <a:off x="6254496" y="38313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748272" y="3776472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7"/>
                </a:solidFill>
              </a:rPr>
              <a:t>Estado del vehículo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355080" y="4178808"/>
            <a:ext cx="40690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Llantas, luces, frenos, señales, espejos, limpieza interna y externa.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1371600" y="5349240"/>
            <a:ext cx="9418320" cy="594360"/>
          </a:xfrm>
          <a:prstGeom prst="roundRect">
            <a:avLst>
              <a:gd name="adj" fmla="val 12308"/>
            </a:avLst>
          </a:prstGeom>
          <a:solidFill>
            <a:srgbClr val="FDEDEC"/>
          </a:solidFill>
          <a:ln w="1778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Text 26"/>
          <p:cNvSpPr/>
          <p:nvPr/>
        </p:nvSpPr>
        <p:spPr>
          <a:xfrm>
            <a:off x="1572768" y="5486400"/>
            <a:ext cx="9015984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Ante una anomalía: foto + detalle + envío + aviso al Supervisor de Flota</a:t>
            </a:r>
            <a:endParaRPr lang="en-US" sz="1700" dirty="0"/>
          </a:p>
        </p:txBody>
      </p:sp>
      <p:sp>
        <p:nvSpPr>
          <p:cNvPr id="31" name="Text 27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6</a:t>
            </a:r>
            <a:endParaRPr lang="en-US" sz="75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45E801F-BD69-7DF3-15FD-E29B9F861A6C}"/>
              </a:ext>
            </a:extLst>
          </p:cNvPr>
          <p:cNvSpPr txBox="1"/>
          <p:nvPr/>
        </p:nvSpPr>
        <p:spPr>
          <a:xfrm>
            <a:off x="905256" y="2646065"/>
            <a:ext cx="61010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111111"/>
                </a:solidFill>
              </a:rPr>
              <a:t>Licencia</a:t>
            </a:r>
            <a:r>
              <a:rPr lang="en-US" sz="1250" dirty="0">
                <a:solidFill>
                  <a:srgbClr val="111111"/>
                </a:solidFill>
              </a:rPr>
              <a:t>, cédula, </a:t>
            </a:r>
            <a:r>
              <a:rPr lang="en-US" sz="1250" dirty="0" err="1">
                <a:solidFill>
                  <a:srgbClr val="111111"/>
                </a:solidFill>
              </a:rPr>
              <a:t>seguro</a:t>
            </a:r>
            <a:r>
              <a:rPr lang="en-US" sz="1250" dirty="0">
                <a:solidFill>
                  <a:srgbClr val="111111"/>
                </a:solidFill>
              </a:rPr>
              <a:t>, RTO/VTV, RUTA.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Ítems críticos y bloqueo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el checklist diario todos los ítems son críticos</a:t>
            </a:r>
            <a:endParaRPr lang="en-US" sz="3400" dirty="0"/>
          </a:p>
        </p:txBody>
      </p:sp>
      <p:sp>
        <p:nvSpPr>
          <p:cNvPr id="12" name="Text 7"/>
          <p:cNvSpPr/>
          <p:nvPr/>
        </p:nvSpPr>
        <p:spPr>
          <a:xfrm>
            <a:off x="7459980" y="3154680"/>
            <a:ext cx="40233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311536" y="2935224"/>
            <a:ext cx="4468223" cy="1138174"/>
          </a:xfrm>
          <a:prstGeom prst="roundRect">
            <a:avLst>
              <a:gd name="adj" fmla="val 12308"/>
            </a:avLst>
          </a:prstGeom>
          <a:solidFill>
            <a:srgbClr val="FFF7E7"/>
          </a:solidFill>
          <a:ln w="1778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9"/>
          <p:cNvSpPr/>
          <p:nvPr/>
        </p:nvSpPr>
        <p:spPr>
          <a:xfrm>
            <a:off x="6525332" y="2964942"/>
            <a:ext cx="4013529" cy="90163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La ruta no inicia hasta corregir y liberar el vehículo.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7</a:t>
            </a:r>
            <a:endParaRPr lang="en-US" sz="75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6E2A985-F962-E1C9-10B9-141A6804EDB7}"/>
              </a:ext>
            </a:extLst>
          </p:cNvPr>
          <p:cNvSpPr/>
          <p:nvPr/>
        </p:nvSpPr>
        <p:spPr>
          <a:xfrm>
            <a:off x="332377" y="1591056"/>
            <a:ext cx="6985725" cy="608076"/>
          </a:xfrm>
          <a:prstGeom prst="roundRect">
            <a:avLst>
              <a:gd name="adj" fmla="val 7619"/>
            </a:avLst>
          </a:prstGeom>
          <a:solidFill>
            <a:srgbClr val="FDEDEC"/>
          </a:solidFill>
          <a:ln w="17780">
            <a:solidFill>
              <a:srgbClr val="C62828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dirty="0">
                <a:solidFill>
                  <a:srgbClr val="5F6B7A"/>
                </a:solidFill>
              </a:rPr>
              <a:t>Una </a:t>
            </a:r>
            <a:r>
              <a:rPr lang="en-US" sz="1400" dirty="0" err="1">
                <a:solidFill>
                  <a:srgbClr val="5F6B7A"/>
                </a:solidFill>
              </a:rPr>
              <a:t>falla</a:t>
            </a:r>
            <a:r>
              <a:rPr lang="en-US" sz="1400" dirty="0">
                <a:solidFill>
                  <a:srgbClr val="5F6B7A"/>
                </a:solidFill>
              </a:rPr>
              <a:t> </a:t>
            </a:r>
            <a:r>
              <a:rPr lang="en-US" sz="1400" dirty="0" err="1">
                <a:solidFill>
                  <a:srgbClr val="5F6B7A"/>
                </a:solidFill>
              </a:rPr>
              <a:t>puede</a:t>
            </a:r>
            <a:r>
              <a:rPr lang="en-US" sz="1400" dirty="0">
                <a:solidFill>
                  <a:srgbClr val="5F6B7A"/>
                </a:solidFill>
              </a:rPr>
              <a:t> </a:t>
            </a:r>
            <a:r>
              <a:rPr lang="en-US" sz="1400" dirty="0" err="1">
                <a:solidFill>
                  <a:srgbClr val="5F6B7A"/>
                </a:solidFill>
              </a:rPr>
              <a:t>comprometer</a:t>
            </a:r>
            <a:r>
              <a:rPr lang="en-US" sz="1400" dirty="0">
                <a:solidFill>
                  <a:srgbClr val="5F6B7A"/>
                </a:solidFill>
              </a:rPr>
              <a:t> la </a:t>
            </a:r>
            <a:r>
              <a:rPr lang="en-US" sz="1400" dirty="0" err="1">
                <a:solidFill>
                  <a:srgbClr val="5F6B7A"/>
                </a:solidFill>
              </a:rPr>
              <a:t>seguridad</a:t>
            </a:r>
            <a:r>
              <a:rPr lang="en-US" sz="1400" dirty="0">
                <a:solidFill>
                  <a:srgbClr val="5F6B7A"/>
                </a:solidFill>
              </a:rPr>
              <a:t>, la </a:t>
            </a:r>
            <a:r>
              <a:rPr lang="en-US" sz="1400" dirty="0" err="1">
                <a:solidFill>
                  <a:srgbClr val="5F6B7A"/>
                </a:solidFill>
              </a:rPr>
              <a:t>mercadería</a:t>
            </a:r>
            <a:r>
              <a:rPr lang="en-US" sz="1400" dirty="0">
                <a:solidFill>
                  <a:srgbClr val="5F6B7A"/>
                </a:solidFill>
              </a:rPr>
              <a:t>, el </a:t>
            </a:r>
            <a:r>
              <a:rPr lang="en-US" sz="1400" dirty="0" err="1">
                <a:solidFill>
                  <a:srgbClr val="5F6B7A"/>
                </a:solidFill>
              </a:rPr>
              <a:t>vehículo</a:t>
            </a:r>
            <a:r>
              <a:rPr lang="en-US" sz="1400" dirty="0">
                <a:solidFill>
                  <a:srgbClr val="5F6B7A"/>
                </a:solidFill>
              </a:rPr>
              <a:t> o el </a:t>
            </a:r>
            <a:r>
              <a:rPr lang="en-US" sz="1400" dirty="0" err="1">
                <a:solidFill>
                  <a:srgbClr val="5F6B7A"/>
                </a:solidFill>
              </a:rPr>
              <a:t>cumplimiento</a:t>
            </a:r>
            <a:r>
              <a:rPr lang="en-US" sz="1400" dirty="0">
                <a:solidFill>
                  <a:srgbClr val="5F6B7A"/>
                </a:solidFill>
              </a:rPr>
              <a:t> legal.</a:t>
            </a:r>
            <a:endParaRPr lang="en-US" sz="1400" dirty="0"/>
          </a:p>
          <a:p>
            <a:pPr algn="ctr"/>
            <a:endParaRPr lang="es-AR" sz="1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C9558F6-1584-BB00-EE2C-DD7690210925}"/>
              </a:ext>
            </a:extLst>
          </p:cNvPr>
          <p:cNvSpPr/>
          <p:nvPr/>
        </p:nvSpPr>
        <p:spPr>
          <a:xfrm>
            <a:off x="6095847" y="909828"/>
            <a:ext cx="6199353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endParaRPr lang="en-US" sz="17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12ADACAE-A958-43E2-2FDF-AB5BD085C9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77" t="8053" r="57560" b="75257"/>
          <a:stretch>
            <a:fillRect/>
          </a:stretch>
        </p:blipFill>
        <p:spPr>
          <a:xfrm>
            <a:off x="7391400" y="1132911"/>
            <a:ext cx="4541520" cy="121577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1EFEBA0-8C12-E97C-DE9C-C257BC4B76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5" t="24315" r="63549" b="10802"/>
          <a:stretch>
            <a:fillRect/>
          </a:stretch>
        </p:blipFill>
        <p:spPr>
          <a:xfrm>
            <a:off x="1742911" y="2206954"/>
            <a:ext cx="3600777" cy="4358438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0E01CE9-EB0C-620F-4DA8-093BBD39E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999" y="4320519"/>
            <a:ext cx="6206585" cy="16276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rechazado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hacer cuando CloudFleet rechaza el checklist?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El rechazo activa bloqueo, aviso y seguimiento.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2011680" y="2834640"/>
            <a:ext cx="100584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6"/>
          <p:cNvSpPr/>
          <p:nvPr/>
        </p:nvSpPr>
        <p:spPr>
          <a:xfrm>
            <a:off x="4297680" y="2834640"/>
            <a:ext cx="100584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7"/>
          <p:cNvSpPr/>
          <p:nvPr/>
        </p:nvSpPr>
        <p:spPr>
          <a:xfrm>
            <a:off x="6492240" y="2834640"/>
            <a:ext cx="105156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8"/>
          <p:cNvSpPr/>
          <p:nvPr/>
        </p:nvSpPr>
        <p:spPr>
          <a:xfrm>
            <a:off x="8778240" y="2834640"/>
            <a:ext cx="1132114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9"/>
          <p:cNvSpPr/>
          <p:nvPr/>
        </p:nvSpPr>
        <p:spPr>
          <a:xfrm>
            <a:off x="685800" y="22402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DEDEC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0"/>
          <p:cNvSpPr/>
          <p:nvPr/>
        </p:nvSpPr>
        <p:spPr>
          <a:xfrm>
            <a:off x="886968" y="240487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2828"/>
                </a:solidFill>
              </a:rPr>
              <a:t>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914400" y="2807208"/>
            <a:ext cx="9601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NO APTO / BLOQUEADO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017520" y="22402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DEDEC"/>
          </a:solidFill>
          <a:ln w="1651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3218688" y="240487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62828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3246120" y="2807208"/>
            <a:ext cx="9601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Avisar al supervisor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349240" y="22402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FF7E7"/>
          </a:solidFill>
          <a:ln w="1651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6"/>
          <p:cNvSpPr/>
          <p:nvPr/>
        </p:nvSpPr>
        <p:spPr>
          <a:xfrm>
            <a:off x="5550408" y="240487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5577840" y="2807208"/>
            <a:ext cx="9601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Verificar incidencia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7680960" y="22402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FFF7E7"/>
          </a:solidFill>
          <a:ln w="1651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19"/>
          <p:cNvSpPr/>
          <p:nvPr/>
        </p:nvSpPr>
        <p:spPr>
          <a:xfrm>
            <a:off x="7882128" y="240487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39C12"/>
                </a:solidFill>
              </a:rPr>
              <a:t>4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909560" y="2807208"/>
            <a:ext cx="9601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Orden de Trabajo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10012680" y="2240280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9F6EA"/>
          </a:solidFill>
          <a:ln w="1651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6" name="Text 22"/>
          <p:cNvSpPr/>
          <p:nvPr/>
        </p:nvSpPr>
        <p:spPr>
          <a:xfrm>
            <a:off x="10213848" y="240487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E7D32"/>
                </a:solidFill>
              </a:rPr>
              <a:t>5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10241280" y="2807208"/>
            <a:ext cx="9601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Corregir / transferir carga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1143000" y="438912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DEDEC"/>
          </a:solidFill>
          <a:ln w="1778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5"/>
          <p:cNvSpPr/>
          <p:nvPr/>
        </p:nvSpPr>
        <p:spPr>
          <a:xfrm>
            <a:off x="1344168" y="4526280"/>
            <a:ext cx="956462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Prohibido utilizar un camión rechazado aunque esté cargado o haya riesgo de demora.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Mantenimiento y liberación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vuelve a circular un 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vehículo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bloqueado</a:t>
            </a: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19466" y="171907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Solo se libera cuando la condición fue corregida y verificada.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77240" y="23317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7E7"/>
          </a:solidFill>
          <a:ln w="1651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6"/>
          <p:cNvSpPr/>
          <p:nvPr/>
        </p:nvSpPr>
        <p:spPr>
          <a:xfrm>
            <a:off x="905256" y="2478024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7"/>
          <p:cNvSpPr/>
          <p:nvPr/>
        </p:nvSpPr>
        <p:spPr>
          <a:xfrm>
            <a:off x="905256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99031" y="2496312"/>
            <a:ext cx="145737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9C12"/>
                </a:solidFill>
              </a:rPr>
              <a:t>Reparación realizada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005840" y="2898648"/>
            <a:ext cx="169164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Mantenimiento corrige la falla mediante Orden de Trabajo.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2926080" y="3090672"/>
            <a:ext cx="36576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3611880" y="23317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7E7"/>
          </a:solidFill>
          <a:ln w="1651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Shape 12"/>
          <p:cNvSpPr/>
          <p:nvPr/>
        </p:nvSpPr>
        <p:spPr>
          <a:xfrm>
            <a:off x="3739896" y="2478024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3"/>
          <p:cNvSpPr/>
          <p:nvPr/>
        </p:nvSpPr>
        <p:spPr>
          <a:xfrm>
            <a:off x="3739896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233671" y="2496312"/>
            <a:ext cx="1426899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9C12"/>
                </a:solidFill>
              </a:rPr>
              <a:t>OT atendida / cerrada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840480" y="2898648"/>
            <a:ext cx="169164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Queda evidencia de la acción correctiva.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760720" y="3090672"/>
            <a:ext cx="36576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1" name="Shape 17"/>
          <p:cNvSpPr/>
          <p:nvPr/>
        </p:nvSpPr>
        <p:spPr>
          <a:xfrm>
            <a:off x="6446520" y="23317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E9F6EA"/>
          </a:solidFill>
          <a:ln w="1651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Shape 18"/>
          <p:cNvSpPr/>
          <p:nvPr/>
        </p:nvSpPr>
        <p:spPr>
          <a:xfrm>
            <a:off x="6574536" y="2478024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Text 19"/>
          <p:cNvSpPr/>
          <p:nvPr/>
        </p:nvSpPr>
        <p:spPr>
          <a:xfrm>
            <a:off x="6574536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68312" y="249631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</a:rPr>
              <a:t>Nuevo control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6675120" y="2898648"/>
            <a:ext cx="169164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Se verifica que la causa del rechazo fue solucionada.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595360" y="3090672"/>
            <a:ext cx="365760" cy="0"/>
          </a:xfrm>
          <a:prstGeom prst="line">
            <a:avLst/>
          </a:prstGeom>
          <a:noFill/>
          <a:ln w="17780">
            <a:solidFill>
              <a:srgbClr val="5F6B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7" name="Shape 23"/>
          <p:cNvSpPr/>
          <p:nvPr/>
        </p:nvSpPr>
        <p:spPr>
          <a:xfrm>
            <a:off x="9281160" y="233172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E9F6EA"/>
          </a:solidFill>
          <a:ln w="1651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Shape 24"/>
          <p:cNvSpPr/>
          <p:nvPr/>
        </p:nvSpPr>
        <p:spPr>
          <a:xfrm>
            <a:off x="9409176" y="2478024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9" name="Text 25"/>
          <p:cNvSpPr/>
          <p:nvPr/>
        </p:nvSpPr>
        <p:spPr>
          <a:xfrm>
            <a:off x="9409176" y="25511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902952" y="249631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E7D32"/>
                </a:solidFill>
              </a:rPr>
              <a:t>Autorización</a:t>
            </a:r>
            <a:endParaRPr lang="en-US" sz="1700" dirty="0"/>
          </a:p>
        </p:txBody>
      </p:sp>
      <p:sp>
        <p:nvSpPr>
          <p:cNvPr id="31" name="Text 27"/>
          <p:cNvSpPr/>
          <p:nvPr/>
        </p:nvSpPr>
        <p:spPr>
          <a:xfrm>
            <a:off x="9509760" y="2898648"/>
            <a:ext cx="169164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Supervisor de Flota libera el vehículo en CloudFleet.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1920240" y="4846320"/>
            <a:ext cx="8321040" cy="73152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 w="1778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3" name="Text 29"/>
          <p:cNvSpPr/>
          <p:nvPr/>
        </p:nvSpPr>
        <p:spPr>
          <a:xfrm>
            <a:off x="2121408" y="4983480"/>
            <a:ext cx="791870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D57"/>
                </a:solidFill>
              </a:rPr>
              <a:t>Cuando corresponda, realizar nuevo checklist en CloudFleet antes de operar.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quincenal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502920" y="77724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Inspección profunda cada 15 días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30352" y="1581912"/>
            <a:ext cx="5669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F6B7A"/>
                </a:solidFill>
              </a:rPr>
              <a:t>Complementa el checklist diario y permite detectar condiciones críticas y no críticas.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6368143" y="2599618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6"/>
          <p:cNvSpPr/>
          <p:nvPr/>
        </p:nvSpPr>
        <p:spPr>
          <a:xfrm>
            <a:off x="6569311" y="276421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7"/>
                </a:solidFill>
              </a:rPr>
              <a:t>Cuándo realizarlo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596743" y="3166546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Camión estacionado, sin carga y fuera de operación.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368143" y="3788338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7E7"/>
          </a:solidFill>
          <a:ln w="1651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9"/>
          <p:cNvSpPr/>
          <p:nvPr/>
        </p:nvSpPr>
        <p:spPr>
          <a:xfrm>
            <a:off x="6569311" y="395293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2D57"/>
                </a:solidFill>
              </a:rPr>
              <a:t>Qué detecta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96743" y="4355266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Estado general, seguridad, carrocería, equipamiento y componentes mecánicos.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68143" y="4977058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9F6EA"/>
          </a:solidFill>
          <a:ln w="1651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7" name="Text 12"/>
          <p:cNvSpPr/>
          <p:nvPr/>
        </p:nvSpPr>
        <p:spPr>
          <a:xfrm>
            <a:off x="6569311" y="5141650"/>
            <a:ext cx="4078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</a:rPr>
              <a:t>Cómo se gestiona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596743" y="5543986"/>
            <a:ext cx="4023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Registrar en CloudFleet, clasificar, generar seguimiento y OT si corresponde.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10</a:t>
            </a:r>
            <a:endParaRPr lang="en-US" sz="7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6EF60892-7D87-752C-F3F0-6582F468FB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083" t="24146" r="784" b="10567"/>
          <a:stretch>
            <a:fillRect/>
          </a:stretch>
        </p:blipFill>
        <p:spPr>
          <a:xfrm>
            <a:off x="426567" y="2271413"/>
            <a:ext cx="5599764" cy="386051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43C3781-0A23-5DDB-C18A-2EEC557D33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985" t="8094" r="872" b="75433"/>
          <a:stretch>
            <a:fillRect/>
          </a:stretch>
        </p:blipFill>
        <p:spPr>
          <a:xfrm>
            <a:off x="6368143" y="854746"/>
            <a:ext cx="4513217" cy="9740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</a:t>
            </a: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4586369" y="731520"/>
            <a:ext cx="6080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Aplicación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1659091" y="1504188"/>
            <a:ext cx="8575549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5F6B7A"/>
                </a:solidFill>
              </a:rPr>
              <a:t>Objetivo: </a:t>
            </a:r>
            <a:r>
              <a:rPr lang="en-US" sz="2000" dirty="0" err="1">
                <a:solidFill>
                  <a:srgbClr val="5F6B7A"/>
                </a:solidFill>
              </a:rPr>
              <a:t>Que</a:t>
            </a:r>
            <a:r>
              <a:rPr lang="en-US" sz="2000" dirty="0">
                <a:solidFill>
                  <a:srgbClr val="5F6B7A"/>
                </a:solidFill>
              </a:rPr>
              <a:t> el equipo ejecute el procedimiento completo sin saltear pasos.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423160" y="2313432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EAF3FF"/>
          </a:solidFill>
          <a:ln w="1651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Shape 6"/>
          <p:cNvSpPr/>
          <p:nvPr/>
        </p:nvSpPr>
        <p:spPr>
          <a:xfrm>
            <a:off x="2551176" y="2459736"/>
            <a:ext cx="411480" cy="411480"/>
          </a:xfrm>
          <a:prstGeom prst="ellipse">
            <a:avLst/>
          </a:prstGeom>
          <a:solidFill>
            <a:srgbClr val="1F5FAE"/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ext 7"/>
          <p:cNvSpPr/>
          <p:nvPr/>
        </p:nvSpPr>
        <p:spPr>
          <a:xfrm>
            <a:off x="2551176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044952" y="247802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2D57"/>
                </a:solidFill>
              </a:rPr>
              <a:t>Ejercicio 1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2651760" y="2880360"/>
            <a:ext cx="278892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Simular la creación del checklist diario en CloudFleet: formulario, ubicación, vehículo, odómetro y comienzo.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26480" y="2313432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FF7E7"/>
          </a:solidFill>
          <a:ln w="1651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Shape 11"/>
          <p:cNvSpPr/>
          <p:nvPr/>
        </p:nvSpPr>
        <p:spPr>
          <a:xfrm>
            <a:off x="6254496" y="2459736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2"/>
          <p:cNvSpPr/>
          <p:nvPr/>
        </p:nvSpPr>
        <p:spPr>
          <a:xfrm>
            <a:off x="6254496" y="25328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48272" y="247802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2D57"/>
                </a:solidFill>
              </a:rPr>
              <a:t>Ejercicio 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355080" y="2880360"/>
            <a:ext cx="278892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Detectar una anomalía: tomar foto, describir la falla, finalizar el checklist y avisar al supervisor.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8720110" y="23682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11</a:t>
            </a:r>
            <a:endParaRPr lang="en-US" sz="75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DF2D84E5-9B9B-C4F1-3E7F-18D2DBDD4CFD}"/>
              </a:ext>
            </a:extLst>
          </p:cNvPr>
          <p:cNvSpPr/>
          <p:nvPr/>
        </p:nvSpPr>
        <p:spPr>
          <a:xfrm>
            <a:off x="4015740" y="4517136"/>
            <a:ext cx="3246120" cy="2286000"/>
          </a:xfrm>
          <a:prstGeom prst="roundRect">
            <a:avLst>
              <a:gd name="adj" fmla="val 3200"/>
            </a:avLst>
          </a:prstGeom>
          <a:solidFill>
            <a:schemeClr val="accent6">
              <a:lumMod val="20000"/>
              <a:lumOff val="80000"/>
            </a:schemeClr>
          </a:solidFill>
          <a:ln w="1651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DAEB9CD7-489F-46FD-823E-C802ABA6B692}"/>
              </a:ext>
            </a:extLst>
          </p:cNvPr>
          <p:cNvSpPr/>
          <p:nvPr/>
        </p:nvSpPr>
        <p:spPr>
          <a:xfrm>
            <a:off x="4143756" y="4663440"/>
            <a:ext cx="411480" cy="41148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1F5FAE"/>
            </a:solidFill>
            <a:prstDash val="solid"/>
          </a:ln>
        </p:spPr>
        <p:txBody>
          <a:bodyPr/>
          <a:lstStyle/>
          <a:p>
            <a:r>
              <a:rPr lang="es-AR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E2FAE004-B6DE-2B56-91A7-558CEA7E1BD7}"/>
              </a:ext>
            </a:extLst>
          </p:cNvPr>
          <p:cNvSpPr/>
          <p:nvPr/>
        </p:nvSpPr>
        <p:spPr>
          <a:xfrm>
            <a:off x="4637532" y="468172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B2D57"/>
                </a:solidFill>
              </a:rPr>
              <a:t>Ejercicio</a:t>
            </a:r>
            <a:r>
              <a:rPr lang="en-US" sz="2000" b="1" dirty="0">
                <a:solidFill>
                  <a:srgbClr val="0B2D57"/>
                </a:solidFill>
              </a:rPr>
              <a:t> 3</a:t>
            </a:r>
            <a:endParaRPr lang="en-US" sz="200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CD2A9722-3982-9E9A-D71F-8F0FB8599C8F}"/>
              </a:ext>
            </a:extLst>
          </p:cNvPr>
          <p:cNvSpPr/>
          <p:nvPr/>
        </p:nvSpPr>
        <p:spPr>
          <a:xfrm>
            <a:off x="4244340" y="5084064"/>
            <a:ext cx="2788920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Simular la creación del checklist </a:t>
            </a:r>
            <a:r>
              <a:rPr lang="en-US" sz="1250" dirty="0" err="1">
                <a:solidFill>
                  <a:srgbClr val="111111"/>
                </a:solidFill>
              </a:rPr>
              <a:t>cada</a:t>
            </a:r>
            <a:r>
              <a:rPr lang="en-US" sz="1250" dirty="0">
                <a:solidFill>
                  <a:srgbClr val="111111"/>
                </a:solidFill>
              </a:rPr>
              <a:t> 15 </a:t>
            </a:r>
            <a:r>
              <a:rPr lang="en-US" sz="1250" dirty="0" err="1">
                <a:solidFill>
                  <a:srgbClr val="111111"/>
                </a:solidFill>
              </a:rPr>
              <a:t>dias</a:t>
            </a:r>
            <a:r>
              <a:rPr lang="en-US" sz="1250" dirty="0">
                <a:solidFill>
                  <a:srgbClr val="111111"/>
                </a:solidFill>
              </a:rPr>
              <a:t> en CloudFleet: formulario, ubicación, vehículo, odómetro y comienzo.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D57"/>
          </a:solidFill>
          <a:ln w="12700">
            <a:solidFill>
              <a:srgbClr val="0B2D57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3" name="Image 0" descr="/mnt/data/sop_imgs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0058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</a:t>
            </a:r>
            <a:endParaRPr lang="en-US" sz="1800" dirty="0"/>
          </a:p>
        </p:txBody>
      </p:sp>
      <p:pic>
        <p:nvPicPr>
          <p:cNvPr id="5" name="Image 1" descr="/mnt/data/sop_imgs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73152"/>
            <a:ext cx="1325880" cy="384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372600" y="1554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D8E7FF"/>
                </a:solidFill>
              </a:rPr>
              <a:t>13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82296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12"/>
                </a:solidFill>
              </a:rPr>
              <a:t>Mensaje final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696720" y="1778000"/>
            <a:ext cx="7858760" cy="1614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2D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checklist bien hecho evita accidentes, demoras y salidas inseguras.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2865120" y="3858768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DEDEC"/>
          </a:solidFill>
          <a:ln w="1778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6"/>
          <p:cNvSpPr/>
          <p:nvPr/>
        </p:nvSpPr>
        <p:spPr>
          <a:xfrm>
            <a:off x="3066288" y="3995928"/>
            <a:ext cx="535838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</a:rPr>
              <a:t>Ante la duda: no salir, registrar e informar.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2843884" y="5138506"/>
            <a:ext cx="5760720" cy="814324"/>
          </a:xfrm>
          <a:prstGeom prst="roundRect">
            <a:avLst>
              <a:gd name="adj" fmla="val 10667"/>
            </a:avLst>
          </a:prstGeom>
          <a:solidFill>
            <a:srgbClr val="E9F6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3" name="Text 8"/>
          <p:cNvSpPr/>
          <p:nvPr/>
        </p:nvSpPr>
        <p:spPr>
          <a:xfrm>
            <a:off x="3032760" y="5399531"/>
            <a:ext cx="5571844" cy="301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Gracias por participar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365760" y="656539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 err="1">
                <a:solidFill>
                  <a:srgbClr val="7A8696"/>
                </a:solidFill>
              </a:rPr>
              <a:t>Capacitación</a:t>
            </a:r>
            <a:r>
              <a:rPr lang="en-US" sz="750" dirty="0">
                <a:solidFill>
                  <a:srgbClr val="7A8696"/>
                </a:solidFill>
              </a:rPr>
              <a:t>  | Checklist de salida y regreso de camiones |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881</Words>
  <Application>Microsoft Office PowerPoint</Application>
  <PresentationFormat>Panorámica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Del Palacio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Capacitación - SOP Checklist de salida y regreso de camiones</dc:title>
  <dc:subject>Capacitación SOP checklist salida y regreso de camiones</dc:subject>
  <dc:creator>OpenAI</dc:creator>
  <cp:lastModifiedBy>Logistica Del Palacio</cp:lastModifiedBy>
  <cp:revision>4</cp:revision>
  <dcterms:created xsi:type="dcterms:W3CDTF">2026-08-27T14:58:03Z</dcterms:created>
  <dcterms:modified xsi:type="dcterms:W3CDTF">2026-08-28T18:07:40Z</dcterms:modified>
</cp:coreProperties>
</file>