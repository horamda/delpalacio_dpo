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5" r:id="rId7"/>
    <p:sldId id="271" r:id="rId8"/>
    <p:sldId id="26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68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51560"/>
            <a:ext cx="5760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FE9FA"/>
                </a:solidFill>
              </a:rPr>
              <a:t>CAPACITACIÓN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85800" y="161848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LÍNEA ÉTICA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713232" y="2468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971800"/>
            <a:ext cx="2240280" cy="914400"/>
          </a:xfrm>
          <a:prstGeom prst="roundRect">
            <a:avLst>
              <a:gd name="adj" fmla="val 33333"/>
            </a:avLst>
          </a:prstGeom>
          <a:solidFill>
            <a:srgbClr val="31B5F6"/>
          </a:solidFill>
          <a:ln w="12700">
            <a:solidFill>
              <a:srgbClr val="31B5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884428" y="3129280"/>
            <a:ext cx="1746504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B2F"/>
                </a:solidFill>
              </a:rPr>
              <a:t>Del Palacio SA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566160" y="2953512"/>
            <a:ext cx="1828800" cy="914400"/>
          </a:xfrm>
          <a:prstGeom prst="roundRect">
            <a:avLst>
              <a:gd name="adj" fmla="val 33333"/>
            </a:avLst>
          </a:prstGeom>
          <a:solidFill>
            <a:srgbClr val="F4B000"/>
          </a:solidFill>
          <a:ln w="12700">
            <a:solidFill>
              <a:srgbClr val="F4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3671824" y="3031236"/>
            <a:ext cx="1621536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B2F"/>
                </a:solidFill>
              </a:rPr>
              <a:t>DPO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5870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Rounded Rectangle 32">
            <a:extLst>
              <a:ext uri="{FF2B5EF4-FFF2-40B4-BE49-F238E27FC236}">
                <a16:creationId xmlns:a16="http://schemas.microsoft.com/office/drawing/2014/main" id="{06737D28-1C72-D5C3-1AA0-63B016258F77}"/>
              </a:ext>
            </a:extLst>
          </p:cNvPr>
          <p:cNvSpPr/>
          <p:nvPr/>
        </p:nvSpPr>
        <p:spPr>
          <a:xfrm>
            <a:off x="594360" y="4509008"/>
            <a:ext cx="10784839" cy="867664"/>
          </a:xfrm>
          <a:prstGeom prst="roundRect">
            <a:avLst/>
          </a:prstGeom>
          <a:solidFill>
            <a:srgbClr val="092A4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C4176F3A-A516-EC89-7581-78F8377356A6}"/>
              </a:ext>
            </a:extLst>
          </p:cNvPr>
          <p:cNvSpPr txBox="1"/>
          <p:nvPr/>
        </p:nvSpPr>
        <p:spPr>
          <a:xfrm>
            <a:off x="884428" y="4637024"/>
            <a:ext cx="10390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ABInBev</a:t>
            </a: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establece una política de respeto para proteger a todos los individuos que son parte del CD contra acciones inapropiadas e indeseadas, con la finalidad de evitar ambientes de trabajo intimidantes, ofensivos u hostiles.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CFE9FA"/>
                </a:solidFill>
              </a:rPr>
              <a:t>La Línea </a:t>
            </a:r>
            <a:r>
              <a:rPr lang="en-US" sz="2200" dirty="0" err="1">
                <a:solidFill>
                  <a:srgbClr val="CFE9FA"/>
                </a:solidFill>
              </a:rPr>
              <a:t>Ética</a:t>
            </a:r>
            <a:r>
              <a:rPr lang="en-US" sz="2200" dirty="0">
                <a:solidFill>
                  <a:srgbClr val="CFE9FA"/>
                </a:solidFill>
              </a:rPr>
              <a:t> </a:t>
            </a:r>
            <a:r>
              <a:rPr lang="en-US" sz="2200" dirty="0" err="1">
                <a:solidFill>
                  <a:srgbClr val="CFE9FA"/>
                </a:solidFill>
              </a:rPr>
              <a:t>existe</a:t>
            </a:r>
            <a:r>
              <a:rPr lang="en-US" sz="2200" dirty="0">
                <a:solidFill>
                  <a:srgbClr val="CFE9FA"/>
                </a:solidFill>
              </a:rPr>
              <a:t> para </a:t>
            </a:r>
            <a:r>
              <a:rPr lang="en-US" sz="2200" dirty="0" err="1">
                <a:solidFill>
                  <a:srgbClr val="CFE9FA"/>
                </a:solidFill>
              </a:rPr>
              <a:t>cuidar</a:t>
            </a:r>
            <a:r>
              <a:rPr lang="en-US" sz="2200" dirty="0">
                <a:solidFill>
                  <a:srgbClr val="CFE9FA"/>
                </a:solidFill>
              </a:rPr>
              <a:t> a las personas, la </a:t>
            </a:r>
            <a:r>
              <a:rPr lang="en-US" sz="2200" dirty="0" err="1">
                <a:solidFill>
                  <a:srgbClr val="CFE9FA"/>
                </a:solidFill>
              </a:rPr>
              <a:t>operación</a:t>
            </a:r>
            <a:r>
              <a:rPr lang="en-US" sz="2200" dirty="0">
                <a:solidFill>
                  <a:srgbClr val="CFE9FA"/>
                </a:solidFill>
              </a:rPr>
              <a:t> y la </a:t>
            </a:r>
            <a:r>
              <a:rPr lang="en-US" sz="2200" dirty="0" err="1">
                <a:solidFill>
                  <a:srgbClr val="CFE9FA"/>
                </a:solidFill>
              </a:rPr>
              <a:t>integridad</a:t>
            </a:r>
            <a:r>
              <a:rPr lang="en-US" sz="2200" dirty="0">
                <a:solidFill>
                  <a:srgbClr val="CFE9FA"/>
                </a:solidFill>
              </a:rPr>
              <a:t> de la </a:t>
            </a:r>
            <a:r>
              <a:rPr lang="en-US" sz="2200" dirty="0" err="1">
                <a:solidFill>
                  <a:srgbClr val="CFE9FA"/>
                </a:solidFill>
              </a:rPr>
              <a:t>empresa</a:t>
            </a:r>
            <a:r>
              <a:rPr lang="en-US" sz="2200" dirty="0">
                <a:solidFill>
                  <a:srgbClr val="CFE9FA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2179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94360" y="1444752"/>
            <a:ext cx="1280160" cy="0"/>
          </a:xfrm>
          <a:prstGeom prst="line">
            <a:avLst/>
          </a:prstGeom>
          <a:noFill/>
          <a:ln w="50800">
            <a:solidFill>
              <a:srgbClr val="31B5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63156">
              <a:alpha val="97000"/>
            </a:srgbClr>
          </a:solidFill>
          <a:ln w="15240">
            <a:solidFill>
              <a:srgbClr val="31B5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73152" cy="2743200"/>
          </a:xfrm>
          <a:prstGeom prst="rect">
            <a:avLst/>
          </a:prstGeom>
          <a:solidFill>
            <a:srgbClr val="31B5F6"/>
          </a:solidFill>
          <a:ln w="12700">
            <a:solidFill>
              <a:srgbClr val="31B5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87552" y="2048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1B5F6"/>
                </a:solidFill>
              </a:rPr>
              <a:t>HABLAR A TIEMPO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87552" y="2414016"/>
            <a:ext cx="301752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Cuando algo no está bien, reportarlo temprano permite prevenir daños y corregir desvíos.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63156">
              <a:alpha val="97000"/>
            </a:srgbClr>
          </a:solidFill>
          <a:ln w="15240">
            <a:solidFill>
              <a:srgbClr val="F4B0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73152" cy="2743200"/>
          </a:xfrm>
          <a:prstGeom prst="rect">
            <a:avLst/>
          </a:prstGeom>
          <a:solidFill>
            <a:srgbClr val="F4B000"/>
          </a:solidFill>
          <a:ln w="12700">
            <a:solidFill>
              <a:srgbClr val="F4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4645152" y="2048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B000"/>
                </a:solidFill>
              </a:rPr>
              <a:t>ACTUAR CON RESPETO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645152" y="2414016"/>
            <a:ext cx="301752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Las relaciones profesionales deben estar libres de discriminación, acoso, acoso sexual y violencia.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46720" y="18288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63156">
              <a:alpha val="97000"/>
            </a:srgbClr>
          </a:solidFill>
          <a:ln w="15240">
            <a:solidFill>
              <a:srgbClr val="24A14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73152" cy="2743200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8302752" y="2048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A148"/>
                </a:solidFill>
              </a:rPr>
              <a:t>PROTEGER LA CONFIANZA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02752" y="2414016"/>
            <a:ext cx="301752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La información sensible de la empresa, clientes y colaboradores debe manejarse con responsabilidad.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96240" y="5257800"/>
            <a:ext cx="1128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 ética no es sólo “no hacer algo malo”; también es animarse a levantar la mano cuando vemos un riesgo.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capacitación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179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FA"/>
                </a:solidFill>
              </a:rPr>
              <a:t>Al finalizar, cada participante deberá poder explicar qué reportar y cómo hacerlo.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94360" y="1444752"/>
            <a:ext cx="1280160" cy="0"/>
          </a:xfrm>
          <a:prstGeom prst="line">
            <a:avLst/>
          </a:prstGeom>
          <a:noFill/>
          <a:ln w="50800">
            <a:solidFill>
              <a:srgbClr val="31B5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822960" y="1719072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36192" y="1783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B5F6"/>
                </a:solidFill>
              </a:rPr>
              <a:t>Conocer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46120" y="1764792"/>
            <a:ext cx="7726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Qué es la Línea Ética y por qué forma parte de las Políticas Globales.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822960" y="28529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36192" y="2807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B5F6"/>
                </a:solidFill>
              </a:rPr>
              <a:t>Identificar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46120" y="2788920"/>
            <a:ext cx="7726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Situaciones que </a:t>
            </a:r>
            <a:r>
              <a:rPr lang="en-US" sz="1500" dirty="0" err="1">
                <a:solidFill>
                  <a:srgbClr val="FFFFFF"/>
                </a:solidFill>
              </a:rPr>
              <a:t>deben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reportarse</a:t>
            </a:r>
            <a:r>
              <a:rPr lang="en-US" sz="1500" dirty="0">
                <a:solidFill>
                  <a:srgbClr val="FFFFFF"/>
                </a:solidFill>
              </a:rPr>
              <a:t>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3767328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822960" y="387705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36192" y="38313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B5F6"/>
                </a:solidFill>
              </a:rPr>
              <a:t>Usar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246120" y="3813048"/>
            <a:ext cx="7726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Los canales disponibles y comprender la confidencialidad del proceso.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4791456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822960" y="490118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36192" y="4855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B5F6"/>
                </a:solidFill>
              </a:rPr>
              <a:t>Actuar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246120" y="4837176"/>
            <a:ext cx="7726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Con responsabilidad en la operación diaria y frente a dilemas éticos.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4400" y="5806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la Línea Ética?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179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FA"/>
                </a:solidFill>
              </a:rPr>
              <a:t>Un canal formal para reportar irregularidades cuando algo no está funcionando correctamente.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94360" y="1444752"/>
            <a:ext cx="1280160" cy="0"/>
          </a:xfrm>
          <a:prstGeom prst="line">
            <a:avLst/>
          </a:prstGeom>
          <a:noFill/>
          <a:ln w="50800">
            <a:solidFill>
              <a:srgbClr val="31B5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Sirve para recibir, retener y gestionar reportes relacionados con: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331720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14400" y="24414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063240"/>
            <a:ext cx="530352" cy="530352"/>
          </a:xfrm>
          <a:prstGeom prst="ellipse">
            <a:avLst/>
          </a:prstGeom>
          <a:solidFill>
            <a:srgbClr val="F4B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914400" y="31729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39044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9164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Violaciones al Código de Conducta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4400" y="463600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91640" y="3008377"/>
            <a:ext cx="5120640" cy="530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Acoso, discriminación u otras conductas indebidas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467903" y="2395727"/>
            <a:ext cx="3982417" cy="2286001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B5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7894320" y="2715768"/>
            <a:ext cx="3032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EAF7FF"/>
                </a:solidFill>
              </a:rPr>
              <a:t>No reemplaza los canales normales de comunicación.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AF7FF"/>
                </a:solidFill>
              </a:rPr>
              <a:t>Se usa especialmente cuando esos canales no son efectivos o cuando se requiere confidencialidad.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51E82784-0D88-579E-D5CA-EACC2D341AC3}"/>
              </a:ext>
            </a:extLst>
          </p:cNvPr>
          <p:cNvSpPr/>
          <p:nvPr/>
        </p:nvSpPr>
        <p:spPr>
          <a:xfrm>
            <a:off x="949959" y="4306824"/>
            <a:ext cx="5567985" cy="1426464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B5F6">
                <a:alpha val="7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s-AR" dirty="0">
                <a:solidFill>
                  <a:schemeClr val="bg2"/>
                </a:solidFill>
              </a:rPr>
              <a:t>Si usted sufre cualquier forma de acoso o discriminación, tiene derecho a reportar el hecho.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debo reportar?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179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9FA"/>
                </a:solidFill>
              </a:rPr>
              <a:t>Reportar no es acusar: es informar una sospecha o evidencia para que se revise.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94360" y="1444752"/>
            <a:ext cx="1280160" cy="0"/>
          </a:xfrm>
          <a:prstGeom prst="line">
            <a:avLst/>
          </a:prstGeom>
          <a:noFill/>
          <a:ln w="50800">
            <a:solidFill>
              <a:srgbClr val="31B5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749808" y="1627632"/>
            <a:ext cx="10263632" cy="1143000"/>
          </a:xfrm>
          <a:prstGeom prst="roundRect">
            <a:avLst>
              <a:gd name="adj" fmla="val 11650"/>
            </a:avLst>
          </a:prstGeom>
          <a:solidFill>
            <a:srgbClr val="062A48">
              <a:alpha val="98000"/>
            </a:srgbClr>
          </a:solidFill>
          <a:ln w="12700">
            <a:solidFill>
              <a:srgbClr val="31B5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950976" y="1792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31B5F6"/>
                </a:solidFill>
              </a:rPr>
              <a:t>Acoso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50976" y="2075688"/>
            <a:ext cx="865022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Incluye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todas</a:t>
            </a:r>
            <a:r>
              <a:rPr lang="en-US" sz="1400" dirty="0">
                <a:solidFill>
                  <a:srgbClr val="FFFFFF"/>
                </a:solidFill>
              </a:rPr>
              <a:t> las </a:t>
            </a:r>
            <a:r>
              <a:rPr lang="en-US" sz="1400" dirty="0" err="1">
                <a:solidFill>
                  <a:srgbClr val="FFFFFF"/>
                </a:solidFill>
              </a:rPr>
              <a:t>conductas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inadecuadas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que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crean</a:t>
            </a:r>
            <a:r>
              <a:rPr lang="en-US" sz="1400" dirty="0">
                <a:solidFill>
                  <a:srgbClr val="FFFFFF"/>
                </a:solidFill>
              </a:rPr>
              <a:t> un </a:t>
            </a:r>
            <a:r>
              <a:rPr lang="en-US" sz="1400" dirty="0" err="1">
                <a:solidFill>
                  <a:srgbClr val="FFFFFF"/>
                </a:solidFill>
              </a:rPr>
              <a:t>ambiente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irrespetuoso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 err="1">
                <a:solidFill>
                  <a:srgbClr val="FFFFFF"/>
                </a:solidFill>
              </a:rPr>
              <a:t>intimidante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 err="1">
                <a:solidFill>
                  <a:srgbClr val="FFFFFF"/>
                </a:solidFill>
              </a:rPr>
              <a:t>hostil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 err="1">
                <a:solidFill>
                  <a:srgbClr val="FFFFFF"/>
                </a:solidFill>
              </a:rPr>
              <a:t>humillante</a:t>
            </a:r>
            <a:r>
              <a:rPr lang="en-US" sz="1400" dirty="0">
                <a:solidFill>
                  <a:srgbClr val="FFFFFF"/>
                </a:solidFill>
              </a:rPr>
              <a:t> u </a:t>
            </a:r>
            <a:r>
              <a:rPr lang="en-US" sz="1400" dirty="0" err="1">
                <a:solidFill>
                  <a:srgbClr val="FFFFFF"/>
                </a:solidFill>
              </a:rPr>
              <a:t>ofensivo</a:t>
            </a:r>
            <a:r>
              <a:rPr lang="en-US" sz="1400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83096" y="1792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6483096" y="2075688"/>
            <a:ext cx="464515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" y="2926080"/>
            <a:ext cx="10263632" cy="1170432"/>
          </a:xfrm>
          <a:prstGeom prst="roundRect">
            <a:avLst>
              <a:gd name="adj" fmla="val 11650"/>
            </a:avLst>
          </a:prstGeom>
          <a:solidFill>
            <a:srgbClr val="062A48">
              <a:alpha val="98000"/>
            </a:srgbClr>
          </a:solidFill>
          <a:ln w="12700">
            <a:solidFill>
              <a:srgbClr val="F4B0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950976" y="3090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4B000"/>
                </a:solidFill>
              </a:rPr>
              <a:t>Acoso</a:t>
            </a:r>
            <a:r>
              <a:rPr lang="en-US" sz="2000" b="1" dirty="0">
                <a:solidFill>
                  <a:srgbClr val="F4B000"/>
                </a:solidFill>
              </a:rPr>
              <a:t> sexual	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50976" y="3374135"/>
            <a:ext cx="9747504" cy="4480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Acoso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basado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en</a:t>
            </a:r>
            <a:r>
              <a:rPr lang="en-US" sz="1400" dirty="0">
                <a:solidFill>
                  <a:srgbClr val="FFFFFF"/>
                </a:solidFill>
              </a:rPr>
              <a:t> el </a:t>
            </a:r>
            <a:r>
              <a:rPr lang="en-US" sz="1400" dirty="0" err="1">
                <a:solidFill>
                  <a:srgbClr val="FFFFFF"/>
                </a:solidFill>
              </a:rPr>
              <a:t>sexo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 err="1">
                <a:solidFill>
                  <a:srgbClr val="FFFFFF"/>
                </a:solidFill>
              </a:rPr>
              <a:t>incluye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comportamientos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sexuales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indeseados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 err="1">
                <a:solidFill>
                  <a:srgbClr val="FFFFFF"/>
                </a:solidFill>
              </a:rPr>
              <a:t>atencion</a:t>
            </a:r>
            <a:r>
              <a:rPr lang="en-US" sz="1400" dirty="0">
                <a:solidFill>
                  <a:srgbClr val="FFFFFF"/>
                </a:solidFill>
              </a:rPr>
              <a:t> no </a:t>
            </a:r>
            <a:r>
              <a:rPr lang="en-US" sz="1400" dirty="0" err="1">
                <a:solidFill>
                  <a:srgbClr val="FFFFFF"/>
                </a:solidFill>
              </a:rPr>
              <a:t>solicitada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 err="1">
                <a:solidFill>
                  <a:srgbClr val="FFFFFF"/>
                </a:solidFill>
              </a:rPr>
              <a:t>insinuaciones</a:t>
            </a:r>
            <a:r>
              <a:rPr lang="en-US" sz="1400" dirty="0">
                <a:solidFill>
                  <a:srgbClr val="FFFFFF"/>
                </a:solidFill>
              </a:rPr>
              <a:t> u </a:t>
            </a:r>
            <a:r>
              <a:rPr lang="en-US" sz="1400" dirty="0" err="1">
                <a:solidFill>
                  <a:srgbClr val="FFFFFF"/>
                </a:solidFill>
              </a:rPr>
              <a:t>otra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conducta</a:t>
            </a:r>
            <a:r>
              <a:rPr lang="en-US" sz="1400" dirty="0">
                <a:solidFill>
                  <a:srgbClr val="FFFFFF"/>
                </a:solidFill>
              </a:rPr>
              <a:t> verbal o </a:t>
            </a:r>
            <a:r>
              <a:rPr lang="en-US" sz="1400" dirty="0" err="1">
                <a:solidFill>
                  <a:srgbClr val="FFFFFF"/>
                </a:solidFill>
              </a:rPr>
              <a:t>fisica</a:t>
            </a:r>
            <a:r>
              <a:rPr lang="en-US" sz="1400" dirty="0">
                <a:solidFill>
                  <a:srgbClr val="FFFFFF"/>
                </a:solidFill>
              </a:rPr>
              <a:t> no </a:t>
            </a:r>
            <a:r>
              <a:rPr lang="en-US" sz="1400" dirty="0" err="1">
                <a:solidFill>
                  <a:srgbClr val="FFFFFF"/>
                </a:solidFill>
              </a:rPr>
              <a:t>esperada</a:t>
            </a:r>
            <a:r>
              <a:rPr lang="en-US" sz="1400" dirty="0">
                <a:solidFill>
                  <a:srgbClr val="FFFFFF"/>
                </a:solidFill>
              </a:rPr>
              <a:t>. 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83096" y="3090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6483096" y="3374136"/>
            <a:ext cx="464515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9808" y="4224528"/>
            <a:ext cx="10263632" cy="1188720"/>
          </a:xfrm>
          <a:prstGeom prst="roundRect">
            <a:avLst>
              <a:gd name="adj" fmla="val 11650"/>
            </a:avLst>
          </a:prstGeom>
          <a:solidFill>
            <a:srgbClr val="062A48">
              <a:alpha val="98000"/>
            </a:srgbClr>
          </a:solidFill>
          <a:ln w="12700">
            <a:solidFill>
              <a:srgbClr val="24A14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950976" y="4389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4A148"/>
                </a:solidFill>
              </a:rPr>
              <a:t>Discriminacion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50976" y="4672584"/>
            <a:ext cx="92090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Cualquiera</a:t>
            </a:r>
            <a:r>
              <a:rPr lang="en-US" sz="1400" dirty="0">
                <a:solidFill>
                  <a:srgbClr val="FFFFFF"/>
                </a:solidFill>
              </a:rPr>
              <a:t> sea </a:t>
            </a:r>
            <a:r>
              <a:rPr lang="en-US" sz="1400" dirty="0" err="1">
                <a:solidFill>
                  <a:srgbClr val="FFFFFF"/>
                </a:solidFill>
              </a:rPr>
              <a:t>su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naturaleza</a:t>
            </a:r>
            <a:r>
              <a:rPr lang="en-US" sz="1400" dirty="0">
                <a:solidFill>
                  <a:srgbClr val="FFFFFF"/>
                </a:solidFill>
              </a:rPr>
              <a:t> es </a:t>
            </a:r>
            <a:r>
              <a:rPr lang="en-US" sz="1400" dirty="0" err="1">
                <a:solidFill>
                  <a:srgbClr val="FFFFFF"/>
                </a:solidFill>
              </a:rPr>
              <a:t>una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violacion</a:t>
            </a:r>
            <a:r>
              <a:rPr lang="en-US" sz="1400" dirty="0">
                <a:solidFill>
                  <a:srgbClr val="FFFFFF"/>
                </a:solidFill>
              </a:rPr>
              <a:t> a </a:t>
            </a:r>
            <a:r>
              <a:rPr lang="en-US" sz="1400" dirty="0" err="1">
                <a:solidFill>
                  <a:srgbClr val="FFFFFF"/>
                </a:solidFill>
              </a:rPr>
              <a:t>esta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politca</a:t>
            </a:r>
            <a:r>
              <a:rPr lang="en-US" sz="1400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83096" y="4389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6483096" y="4672584"/>
            <a:ext cx="464515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-15088" y="-9144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31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hacer un </a:t>
            </a:r>
            <a:r>
              <a:rPr lang="en-US" sz="31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</a:t>
            </a: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claro?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179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9FA"/>
                </a:solidFill>
              </a:rPr>
              <a:t>Mientras más concreto sea el reporte, más fácil será analizarlo correctamente.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94360" y="1444752"/>
            <a:ext cx="1280160" cy="0"/>
          </a:xfrm>
          <a:prstGeom prst="line">
            <a:avLst/>
          </a:prstGeom>
          <a:noFill/>
          <a:ln w="50800">
            <a:solidFill>
              <a:srgbClr val="31B5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873760" y="1920240"/>
            <a:ext cx="530352" cy="530352"/>
          </a:xfrm>
          <a:prstGeom prst="ellipse">
            <a:avLst/>
          </a:prstGeom>
          <a:solidFill>
            <a:srgbClr val="31B5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873760" y="20299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2606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Qué ocurrió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5120" y="3419856"/>
            <a:ext cx="2088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FA"/>
                </a:solidFill>
              </a:rPr>
              <a:t>Describir el hecho de forma objetiva.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14040" y="1906016"/>
            <a:ext cx="530352" cy="530352"/>
          </a:xfrm>
          <a:prstGeom prst="ellipse">
            <a:avLst/>
          </a:prstGeom>
          <a:solidFill>
            <a:srgbClr val="F4B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3114040" y="201574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33172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Dónde y cuándo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65400" y="3419856"/>
            <a:ext cx="2088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FA"/>
                </a:solidFill>
              </a:rPr>
              <a:t>Lugar, fecha, turno, ruta, depósito u oficina.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50840" y="1913128"/>
            <a:ext cx="530352" cy="530352"/>
          </a:xfrm>
          <a:prstGeom prst="ellipse">
            <a:avLst/>
          </a:prstGeom>
          <a:solidFill>
            <a:srgbClr val="24A148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5450840" y="202285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98848" y="2606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Quiénes participaron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56048" y="3310128"/>
            <a:ext cx="1938528" cy="1048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FA"/>
                </a:solidFill>
              </a:rPr>
              <a:t>Personas involucradas y posibles testigos.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91120" y="1876552"/>
            <a:ext cx="530352" cy="53035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7691120" y="198628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03720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Evidencia disponible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96328" y="3383280"/>
            <a:ext cx="193852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FA"/>
                </a:solidFill>
              </a:rPr>
              <a:t>Mensajes, fotos, remitos, registros, cámaras o documentos.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124440" y="1920240"/>
            <a:ext cx="530352" cy="530352"/>
          </a:xfrm>
          <a:prstGeom prst="ellipse">
            <a:avLst/>
          </a:prstGeom>
          <a:solidFill>
            <a:srgbClr val="B388FF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10124440" y="20299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B2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34856" y="26060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Seguimiento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436608" y="3310128"/>
            <a:ext cx="2429104" cy="13350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FA"/>
                </a:solidFill>
              </a:rPr>
              <a:t>Guardar el número de caso y responder consultas si se solicita.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66800" y="5269992"/>
            <a:ext cx="10058400" cy="777240"/>
          </a:xfrm>
          <a:prstGeom prst="roundRect">
            <a:avLst>
              <a:gd name="adj" fmla="val 17647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7" name="Text 24"/>
          <p:cNvSpPr/>
          <p:nvPr/>
        </p:nvSpPr>
        <p:spPr>
          <a:xfrm>
            <a:off x="1341120" y="549859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Importante: no investigar por cuenta propia ni confrontar. Reportar por los canales formales y dejar que el caso sea tratado.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D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Palacio SA  |  Línea Ética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07</a:t>
            </a:r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963407BD-C0F4-C889-65A9-268DD48B9A52}"/>
              </a:ext>
            </a:extLst>
          </p:cNvPr>
          <p:cNvSpPr/>
          <p:nvPr/>
        </p:nvSpPr>
        <p:spPr>
          <a:xfrm>
            <a:off x="2951479" y="4679188"/>
            <a:ext cx="6258560" cy="492760"/>
          </a:xfrm>
          <a:prstGeom prst="roundRect">
            <a:avLst>
              <a:gd name="adj" fmla="val 17647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s-MX" b="1" dirty="0">
                <a:solidFill>
                  <a:srgbClr val="D9E6F2"/>
                </a:solidFill>
              </a:rPr>
              <a:t>El reporte es confidencial y anónimo.</a:t>
            </a:r>
            <a:endParaRPr lang="es-A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bg_dark.png"/>
          <p:cNvPicPr>
            <a:picLocks noChangeAspect="1"/>
          </p:cNvPicPr>
          <p:nvPr/>
        </p:nvPicPr>
        <p:blipFill>
          <a:blip r:embed="rId2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6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D9E6F2"/>
                </a:solidFill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 Palacio SA  |  Línea Ética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D9E6F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274552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71F35"/>
                </a:solidFill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71F3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1F3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38912"/>
            <a:ext cx="7040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Canales de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reporte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1005840"/>
            <a:ext cx="7040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Información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publicada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cartelería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Políticas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Globales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490472"/>
            <a:ext cx="54864" cy="102412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8096" y="1490472"/>
            <a:ext cx="6409944" cy="1024128"/>
          </a:xfrm>
          <a:prstGeom prst="roundRect">
            <a:avLst/>
          </a:prstGeom>
          <a:solidFill>
            <a:srgbClr val="092A45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19" y="1618488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Línea Ética Del Palacio 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" y="1901952"/>
            <a:ext cx="603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Estudio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Blanco · Dr. Alejandro Blanco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Tel./WhatsApp: 2257 555525 · Mail: alefblanco@yahoo.com.ar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3183635"/>
            <a:ext cx="54864" cy="877824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9808" y="3183635"/>
            <a:ext cx="6409944" cy="877824"/>
          </a:xfrm>
          <a:prstGeom prst="roundRect">
            <a:avLst/>
          </a:prstGeom>
          <a:solidFill>
            <a:srgbClr val="092A4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41831" y="3311651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Disponible 24/7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" y="3595116"/>
            <a:ext cx="6035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Habilitada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las 24 horas,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7 días de la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semana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para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todos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empleados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754880"/>
            <a:ext cx="54864" cy="87782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68096" y="4754880"/>
            <a:ext cx="6409944" cy="877824"/>
          </a:xfrm>
          <a:prstGeom prst="roundRect">
            <a:avLst/>
          </a:prstGeom>
          <a:solidFill>
            <a:srgbClr val="092A4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19" y="4882896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Confidencial y anónima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19" y="5166360"/>
            <a:ext cx="603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El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reporte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trata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con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confidencialidad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y,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 persona lo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desea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puede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realizarse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 forma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anónima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9E6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932688"/>
            <a:ext cx="41605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680960" y="5788152"/>
            <a:ext cx="3703320" cy="320040"/>
          </a:xfrm>
          <a:prstGeom prst="roundRect">
            <a:avLst/>
          </a:prstGeom>
          <a:solidFill>
            <a:srgbClr val="1C75BC"/>
          </a:solidFill>
          <a:ln>
            <a:solidFill>
              <a:srgbClr val="1C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F838AC-29AA-E50D-6AE6-C22EA6654911}"/>
              </a:ext>
            </a:extLst>
          </p:cNvPr>
          <p:cNvSpPr txBox="1"/>
          <p:nvPr/>
        </p:nvSpPr>
        <p:spPr>
          <a:xfrm>
            <a:off x="5730240" y="6465141"/>
            <a:ext cx="619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08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993D19-EA2B-0F0C-06E1-EA4A16D8F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66732"/>
            <a:ext cx="3842677" cy="4124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inea_etica_assets/thanks_dark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9FA"/>
                </a:solidFill>
              </a:rPr>
              <a:t>Recordá: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1984248"/>
            <a:ext cx="8046720" cy="144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Si ves una irregularidad, no la normalices. Reportala.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419856"/>
            <a:ext cx="10139680" cy="176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FE9FA"/>
                </a:solidFill>
              </a:rPr>
              <a:t>La integridad se sostiene con acciones concretas todos los días.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166609" y="5886323"/>
            <a:ext cx="4625340" cy="721868"/>
          </a:xfrm>
          <a:prstGeom prst="roundRect">
            <a:avLst>
              <a:gd name="adj" fmla="val 33333"/>
            </a:avLst>
          </a:prstGeom>
          <a:solidFill>
            <a:srgbClr val="31B5F6"/>
          </a:solidFill>
          <a:ln w="12700">
            <a:solidFill>
              <a:srgbClr val="31B5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3200"/>
          </a:p>
        </p:txBody>
      </p:sp>
      <p:sp>
        <p:nvSpPr>
          <p:cNvPr id="7" name="Text 4"/>
          <p:cNvSpPr/>
          <p:nvPr/>
        </p:nvSpPr>
        <p:spPr>
          <a:xfrm>
            <a:off x="3549396" y="6066790"/>
            <a:ext cx="3859766" cy="3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1B2F"/>
                </a:solidFill>
              </a:rPr>
              <a:t>Gracias</a:t>
            </a:r>
            <a:endParaRPr lang="en-US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ED3C32-9E84-B65F-996E-0293E3032786}"/>
              </a:ext>
            </a:extLst>
          </p:cNvPr>
          <p:cNvSpPr txBox="1"/>
          <p:nvPr/>
        </p:nvSpPr>
        <p:spPr>
          <a:xfrm>
            <a:off x="5821680" y="654243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D7EF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657</Words>
  <Application>Microsoft Office PowerPoint</Application>
  <PresentationFormat>Panorámica</PresentationFormat>
  <Paragraphs>104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Del Palacio 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Línea Ética - Del Palacio SA</dc:title>
  <dc:subject>Capacitación Línea Ética</dc:subject>
  <dc:creator>OpenAI</dc:creator>
  <cp:lastModifiedBy>Logistica Del Palacio</cp:lastModifiedBy>
  <cp:revision>9</cp:revision>
  <dcterms:created xsi:type="dcterms:W3CDTF">2026-09-03T18:25:18Z</dcterms:created>
  <dcterms:modified xsi:type="dcterms:W3CDTF">2026-09-07T19:22:52Z</dcterms:modified>
</cp:coreProperties>
</file>