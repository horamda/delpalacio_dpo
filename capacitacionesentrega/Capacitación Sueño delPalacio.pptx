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00" y="-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033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ueno_assets/ppt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7619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777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00"/>
                </a:solidFill>
              </a:rPr>
              <a:t>CAPACITACIÓN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94360" y="1261872"/>
            <a:ext cx="3703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El Sueño de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la Empresa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21792" y="31272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4F4"/>
                </a:solidFill>
              </a:rPr>
              <a:t>Del Palacio S.A. · DPO · Pilar Gestión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1792" y="3785616"/>
            <a:ext cx="3675888" cy="438912"/>
          </a:xfrm>
          <a:prstGeom prst="roundRect">
            <a:avLst>
              <a:gd name="adj" fmla="val 21053"/>
            </a:avLst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8" name="Text 5"/>
          <p:cNvSpPr/>
          <p:nvPr/>
        </p:nvSpPr>
        <p:spPr>
          <a:xfrm>
            <a:off x="694944" y="3886200"/>
            <a:ext cx="3557016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2A2A"/>
                </a:solidFill>
              </a:rPr>
              <a:t>Sueño Del Palacio S.A.</a:t>
            </a:r>
            <a:endParaRPr lang="en-US" sz="2000" dirty="0"/>
          </a:p>
        </p:txBody>
      </p:sp>
      <p:pic>
        <p:nvPicPr>
          <p:cNvPr id="9" name="Image 1" descr="/mnt/data/sueno_assets/pp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60" y="6469028"/>
            <a:ext cx="1143000" cy="211015"/>
          </a:xfrm>
          <a:prstGeom prst="rect">
            <a:avLst/>
          </a:prstGeom>
        </p:spPr>
      </p:pic>
      <p:pic>
        <p:nvPicPr>
          <p:cNvPr id="10" name="Image 2" descr="/mnt/data/sueno_assets/ppt/ppt/media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384681"/>
            <a:ext cx="1143000" cy="254765"/>
          </a:xfrm>
          <a:prstGeom prst="rect">
            <a:avLst/>
          </a:prstGeom>
        </p:spPr>
      </p:pic>
      <p:pic>
        <p:nvPicPr>
          <p:cNvPr id="12" name="Image 0" descr="/mnt/data/sop_imgs/image5.png">
            <a:extLst>
              <a:ext uri="{FF2B5EF4-FFF2-40B4-BE49-F238E27FC236}">
                <a16:creationId xmlns:a16="http://schemas.microsoft.com/office/drawing/2014/main" id="{96672F62-006A-4C22-AD85-8E5B04311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" y="5724652"/>
            <a:ext cx="918464" cy="918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ueno_assets/ppt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38" y="274320"/>
            <a:ext cx="1148684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</a:rPr>
              <a:t>Objetivo de la capacitación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02920" y="1389888"/>
            <a:ext cx="4892040" cy="4069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8" name="Text 5"/>
          <p:cNvSpPr/>
          <p:nvPr/>
        </p:nvSpPr>
        <p:spPr>
          <a:xfrm>
            <a:off x="804672" y="17556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A2A2A"/>
                </a:solidFill>
              </a:rPr>
              <a:t>Al finalizar, cada empleado debe poder explicar: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68680" y="2468880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124712" y="23957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rgbClr val="2A2A2A"/>
                </a:solidFill>
              </a:rPr>
              <a:t>Cuál</a:t>
            </a:r>
            <a:r>
              <a:rPr lang="en-US" sz="2000" dirty="0">
                <a:solidFill>
                  <a:srgbClr val="2A2A2A"/>
                </a:solidFill>
              </a:rPr>
              <a:t> es el Sueño de la empresa</a:t>
            </a:r>
            <a:r>
              <a:rPr lang="en-US" sz="1700" dirty="0">
                <a:solidFill>
                  <a:srgbClr val="2A2A2A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68680" y="3022092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1124712" y="292608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</a:rPr>
              <a:t>Por qué se conecta con nuestra estrategia.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68680" y="3701796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1124712" y="36484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</a:rPr>
              <a:t>Qué indicadores muestran si avanzamos.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68680" y="4421124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1097280" y="43159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</a:rPr>
              <a:t>Cómo impacta cada tarea diaria.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532120" y="2542032"/>
            <a:ext cx="384048" cy="1170432"/>
          </a:xfrm>
          <a:prstGeom prst="chevron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8" name="Image 1" descr="/mnt/data/sueno_assets/ppt/ppt/media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508760"/>
            <a:ext cx="1371600" cy="1371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37960" y="1920240"/>
            <a:ext cx="404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10020"/>
                </a:solidFill>
              </a:rPr>
              <a:t>La idea central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6327648" y="2275840"/>
            <a:ext cx="5056632" cy="2323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2A2A"/>
                </a:solidFill>
              </a:rPr>
              <a:t>El Sueño no es solo una frase. Es una dirección común que ordena prioridades, indicadores, rutinas y decisiones.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18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2</a:t>
            </a:r>
            <a:endParaRPr lang="en-US" sz="85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F69873B-0882-2B37-E5EE-2ABAC3CD3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520" y="6168197"/>
            <a:ext cx="1822134" cy="3534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ueno_assets/ppt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38" y="274320"/>
            <a:ext cx="1148684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</a:rPr>
              <a:t>Nuestro propósito y nuestro sueño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766560" y="40797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10020"/>
                </a:solidFill>
              </a:rPr>
              <a:t>Nuestro propósito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77240" y="1558544"/>
            <a:ext cx="4846320" cy="0"/>
          </a:xfrm>
          <a:prstGeom prst="line">
            <a:avLst/>
          </a:prstGeom>
          <a:noFill/>
          <a:ln w="381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5821680" y="4572000"/>
            <a:ext cx="5255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</a:rPr>
              <a:t>Soñar en grande para crear un futuro con más motivos para brindar.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51560" y="172770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10020"/>
                </a:solidFill>
              </a:rPr>
              <a:t>El Sueño de Del Palacio S.A.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051560" y="2280921"/>
            <a:ext cx="8577580" cy="15059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2A2A"/>
                </a:solidFill>
              </a:rPr>
              <a:t>Ser la distribuidora elegida, reconocida por la excelencia en el servicio, eficiencia operativa y compromiso con nuestra gente, nuestros clientes, la seguridad y el medio ambiente.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72200" y="1234440"/>
            <a:ext cx="5029200" cy="420624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14" name="Shape 10"/>
          <p:cNvSpPr/>
          <p:nvPr/>
        </p:nvSpPr>
        <p:spPr>
          <a:xfrm>
            <a:off x="7503160" y="5984240"/>
            <a:ext cx="4480560" cy="411480"/>
          </a:xfrm>
          <a:prstGeom prst="rect">
            <a:avLst/>
          </a:prstGeom>
          <a:solidFill>
            <a:srgbClr val="2A2A2A">
              <a:alpha val="90000"/>
            </a:srgbClr>
          </a:solidFill>
          <a:ln w="12700">
            <a:solidFill>
              <a:srgbClr val="2A2A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3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3</a:t>
            </a:r>
            <a:endParaRPr lang="en-US" sz="8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1FBAC3D-F004-9495-CF68-8D3C9F8A5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" y="6206866"/>
            <a:ext cx="1822134" cy="3534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ueno_assets/ppt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38" y="274320"/>
            <a:ext cx="1148684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</a:rPr>
              <a:t>¿</a:t>
            </a:r>
            <a:r>
              <a:rPr lang="en-US" sz="3200" b="1" dirty="0">
                <a:solidFill>
                  <a:srgbClr val="2A2A2A"/>
                </a:solidFill>
              </a:rPr>
              <a:t>Qué es el Sueño de la empresa?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12984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2A2A"/>
                </a:solidFill>
              </a:rPr>
              <a:t>Es una declaración simple, única y compartida que define hacia dónde queremos ir como operación en el mediano y largo plazo.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034540" y="2546604"/>
            <a:ext cx="960120" cy="9601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9" name="Image 1" descr="/mnt/data/sueno_assets/ppt/ppt/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140" y="2773885"/>
            <a:ext cx="502920" cy="4506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0180" y="3653028"/>
            <a:ext cx="1965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2A2A"/>
                </a:solidFill>
              </a:rPr>
              <a:t>Dirección común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40180" y="40279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Todos entendemos la meta.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03420" y="2546604"/>
            <a:ext cx="960120" cy="96012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3" name="Image 2" descr="/mnt/data/sueno_assets/ppt/ppt/media/image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2772701"/>
            <a:ext cx="502920" cy="4530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91940" y="3653028"/>
            <a:ext cx="1897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2A2A"/>
                </a:solidFill>
              </a:rPr>
              <a:t>Estrategia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3909060" y="40279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Ordena prioridades y proyectos</a:t>
            </a:r>
            <a:r>
              <a:rPr lang="en-US" sz="1050" dirty="0">
                <a:solidFill>
                  <a:srgbClr val="6B6B6B"/>
                </a:solidFill>
              </a:rPr>
              <a:t>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972300" y="2546604"/>
            <a:ext cx="960120" cy="960120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7" name="Image 3" descr="/mnt/data/sueno_assets/ppt/ppt/media/image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0" y="274777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60820" y="3639312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2A2A"/>
                </a:solidFill>
              </a:rPr>
              <a:t>Indicadores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377940" y="40279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Hace visible el avance.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441180" y="2546604"/>
            <a:ext cx="960120" cy="96012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1" name="Image 4" descr="/mnt/data/sueno_assets/ppt/ppt/media/imag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9780" y="2753509"/>
            <a:ext cx="502920" cy="4914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29700" y="3607308"/>
            <a:ext cx="1965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2A2A"/>
                </a:solidFill>
              </a:rPr>
              <a:t>Rutina diaria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8846820" y="40279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Conecta con la tarea.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60120" y="544068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10020"/>
                </a:solidFill>
              </a:rPr>
              <a:t>Clave: el Sueño debe ser conocido, visible y llevado a la acción diaria.</a:t>
            </a:r>
            <a:endParaRPr lang="en-US" sz="2400" dirty="0"/>
          </a:p>
        </p:txBody>
      </p:sp>
      <p:sp>
        <p:nvSpPr>
          <p:cNvPr id="25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19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4</a:t>
            </a:r>
            <a:endParaRPr lang="en-US" sz="8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EF9C34C9-CE90-33E6-F23B-40AC11D5C6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2520" y="6168197"/>
            <a:ext cx="1822134" cy="3534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ueno_assets/ppt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38" y="274320"/>
            <a:ext cx="1148684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</a:rPr>
              <a:t>La Casa DPO: cómo se conecta todo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143000" y="1234440"/>
            <a:ext cx="4754880" cy="713232"/>
          </a:xfrm>
          <a:prstGeom prst="trapezoid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1536192" y="1481328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RESULTADOS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554480" y="1993392"/>
            <a:ext cx="3931920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645920" y="2121408"/>
            <a:ext cx="3703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GESTIÓN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542032"/>
            <a:ext cx="438912" cy="1920240"/>
          </a:xfrm>
          <a:prstGeom prst="rect">
            <a:avLst/>
          </a:prstGeom>
          <a:solidFill>
            <a:srgbClr val="D8D8D8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2743200" y="2542032"/>
            <a:ext cx="438912" cy="1920240"/>
          </a:xfrm>
          <a:prstGeom prst="rect">
            <a:avLst/>
          </a:prstGeom>
          <a:solidFill>
            <a:srgbClr val="D8D8D8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0"/>
          <p:cNvSpPr/>
          <p:nvPr/>
        </p:nvSpPr>
        <p:spPr>
          <a:xfrm>
            <a:off x="3703320" y="2542032"/>
            <a:ext cx="438912" cy="1920240"/>
          </a:xfrm>
          <a:prstGeom prst="rect">
            <a:avLst/>
          </a:prstGeom>
          <a:solidFill>
            <a:srgbClr val="D8D8D8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4663440" y="2542032"/>
            <a:ext cx="438912" cy="1920240"/>
          </a:xfrm>
          <a:prstGeom prst="rect">
            <a:avLst/>
          </a:prstGeom>
          <a:solidFill>
            <a:srgbClr val="D8D8D8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2"/>
          <p:cNvSpPr/>
          <p:nvPr/>
        </p:nvSpPr>
        <p:spPr>
          <a:xfrm>
            <a:off x="1234440" y="4590288"/>
            <a:ext cx="4572000" cy="384048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1371600" y="4718304"/>
            <a:ext cx="4251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GENTE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1234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10020"/>
                </a:solidFill>
              </a:rPr>
              <a:t>Qué representa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492240" y="1975104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6748272" y="19019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A2A2A"/>
                </a:solidFill>
              </a:rPr>
              <a:t>El techo: los resultados que buscamos alcanzar.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492240" y="2633472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8"/>
          <p:cNvSpPr/>
          <p:nvPr/>
        </p:nvSpPr>
        <p:spPr>
          <a:xfrm>
            <a:off x="6748272" y="25603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A2A2A"/>
                </a:solidFill>
              </a:rPr>
              <a:t>Los pilares: los medios y conocimientos para lograrlo.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6492240" y="3291840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0"/>
          <p:cNvSpPr/>
          <p:nvPr/>
        </p:nvSpPr>
        <p:spPr>
          <a:xfrm>
            <a:off x="6748272" y="32186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A2A2A"/>
                </a:solidFill>
              </a:rPr>
              <a:t>Gestión: conecta la rutina con los resultados</a:t>
            </a:r>
            <a:r>
              <a:rPr lang="en-US" sz="1700" dirty="0">
                <a:solidFill>
                  <a:srgbClr val="2A2A2A"/>
                </a:solidFill>
              </a:rPr>
              <a:t>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492240" y="3950208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2"/>
          <p:cNvSpPr/>
          <p:nvPr/>
        </p:nvSpPr>
        <p:spPr>
          <a:xfrm>
            <a:off x="6748272" y="38770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A2A2A"/>
                </a:solidFill>
              </a:rPr>
              <a:t>Gente: base para desarrollar, liderar e involucrar al equipo.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188720" y="5532120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A2A2A"/>
                </a:solidFill>
              </a:rPr>
              <a:t>El Sueño marca el destino; la Casa DPO organiza cómo llegar.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5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5</a:t>
            </a:r>
            <a:endParaRPr lang="en-US" sz="85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3B7F2B2A-4880-021F-292E-A00DB74EA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520" y="6168197"/>
            <a:ext cx="1822134" cy="3534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ueno_assets/ppt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38" y="274320"/>
            <a:ext cx="1148684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</a:rPr>
              <a:t>Del Sueño a la tarea diaria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85800" y="12984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2A2A"/>
                </a:solidFill>
              </a:rPr>
              <a:t>Para que el Sueño se cumpla, debe bajar desde la estrategia hasta el puesto de trabajo.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87400" y="2144268"/>
            <a:ext cx="1463040" cy="1307592"/>
          </a:xfrm>
          <a:prstGeom prst="hexagon">
            <a:avLst/>
          </a:prstGeom>
          <a:solidFill>
            <a:srgbClr val="B100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1005840" y="27391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Sueño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8640" y="36027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Destino común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30120" y="2569464"/>
            <a:ext cx="438912" cy="512064"/>
          </a:xfrm>
          <a:prstGeom prst="chevron">
            <a:avLst/>
          </a:prstGeom>
          <a:solidFill>
            <a:srgbClr val="BFBFBF"/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2760472" y="2144268"/>
            <a:ext cx="1463040" cy="1280160"/>
          </a:xfrm>
          <a:prstGeom prst="hexagon">
            <a:avLst/>
          </a:prstGeom>
          <a:solidFill>
            <a:srgbClr val="FFB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2834640" y="2569464"/>
            <a:ext cx="1247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A2A2A"/>
                </a:solidFill>
              </a:rPr>
              <a:t>KPI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468880" y="36027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Resultado clave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173728" y="2549144"/>
            <a:ext cx="438912" cy="512064"/>
          </a:xfrm>
          <a:prstGeom prst="chevron">
            <a:avLst/>
          </a:prstGeom>
          <a:solidFill>
            <a:srgbClr val="BFBFBF"/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3"/>
          <p:cNvSpPr/>
          <p:nvPr/>
        </p:nvSpPr>
        <p:spPr>
          <a:xfrm>
            <a:off x="4685792" y="2150872"/>
            <a:ext cx="1463040" cy="1259840"/>
          </a:xfrm>
          <a:prstGeom prst="hexagon">
            <a:avLst/>
          </a:prstGeom>
          <a:solidFill>
            <a:srgbClr val="B100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4"/>
          <p:cNvSpPr/>
          <p:nvPr/>
        </p:nvSpPr>
        <p:spPr>
          <a:xfrm>
            <a:off x="4667504" y="235712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PI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389120" y="360273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Proceso que empuja el KPI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68568" y="2537968"/>
            <a:ext cx="438912" cy="512064"/>
          </a:xfrm>
          <a:prstGeom prst="chevron">
            <a:avLst/>
          </a:prstGeom>
          <a:solidFill>
            <a:srgbClr val="BFBFBF"/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7"/>
          <p:cNvSpPr/>
          <p:nvPr/>
        </p:nvSpPr>
        <p:spPr>
          <a:xfrm>
            <a:off x="6583680" y="2130552"/>
            <a:ext cx="1463040" cy="1280160"/>
          </a:xfrm>
          <a:prstGeom prst="hexagon">
            <a:avLst/>
          </a:prstGeom>
          <a:solidFill>
            <a:srgbClr val="FFB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8"/>
          <p:cNvSpPr/>
          <p:nvPr/>
        </p:nvSpPr>
        <p:spPr>
          <a:xfrm>
            <a:off x="6565392" y="2235200"/>
            <a:ext cx="1481328" cy="1047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A2A2A"/>
                </a:solidFill>
              </a:rPr>
              <a:t>SOP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09360" y="3602736"/>
            <a:ext cx="1783080" cy="717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Forma correcta de hacer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971536" y="2515616"/>
            <a:ext cx="438912" cy="512064"/>
          </a:xfrm>
          <a:prstGeom prst="chevron">
            <a:avLst/>
          </a:prstGeom>
          <a:solidFill>
            <a:srgbClr val="BFBFBF"/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1"/>
          <p:cNvSpPr/>
          <p:nvPr/>
        </p:nvSpPr>
        <p:spPr>
          <a:xfrm>
            <a:off x="8490712" y="2150872"/>
            <a:ext cx="1412240" cy="1280160"/>
          </a:xfrm>
          <a:prstGeom prst="hexagon">
            <a:avLst/>
          </a:prstGeom>
          <a:solidFill>
            <a:srgbClr val="B100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2"/>
          <p:cNvSpPr/>
          <p:nvPr/>
        </p:nvSpPr>
        <p:spPr>
          <a:xfrm>
            <a:off x="8410448" y="2357120"/>
            <a:ext cx="1551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Rutina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8229600" y="36027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Seguimiento periódico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793224" y="2524760"/>
            <a:ext cx="438912" cy="512064"/>
          </a:xfrm>
          <a:prstGeom prst="chevron">
            <a:avLst/>
          </a:prstGeom>
          <a:solidFill>
            <a:srgbClr val="BFBFBF"/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25"/>
          <p:cNvSpPr/>
          <p:nvPr/>
        </p:nvSpPr>
        <p:spPr>
          <a:xfrm>
            <a:off x="10312400" y="2150872"/>
            <a:ext cx="1412240" cy="1259840"/>
          </a:xfrm>
          <a:prstGeom prst="hexagon">
            <a:avLst/>
          </a:prstGeom>
          <a:solidFill>
            <a:srgbClr val="FFB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6"/>
          <p:cNvSpPr/>
          <p:nvPr/>
        </p:nvSpPr>
        <p:spPr>
          <a:xfrm>
            <a:off x="10253472" y="2357120"/>
            <a:ext cx="1551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A2A2A"/>
                </a:solidFill>
              </a:rPr>
              <a:t>Tarea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0149840" y="36027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</a:rPr>
              <a:t>Acción de cada día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005840" y="4680712"/>
            <a:ext cx="10058400" cy="1034288"/>
          </a:xfrm>
          <a:prstGeom prst="rect">
            <a:avLst/>
          </a:prstGeom>
          <a:solidFill>
            <a:srgbClr val="F3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29"/>
          <p:cNvSpPr/>
          <p:nvPr/>
        </p:nvSpPr>
        <p:spPr>
          <a:xfrm>
            <a:off x="1325880" y="495604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B10020"/>
                </a:solidFill>
              </a:rPr>
              <a:t>Pregunta</a:t>
            </a:r>
            <a:r>
              <a:rPr lang="en-US" sz="2400" b="1" dirty="0">
                <a:solidFill>
                  <a:srgbClr val="B10020"/>
                </a:solidFill>
              </a:rPr>
              <a:t>: “¿Lo que estoy haciendo hoy ayuda a cumplir el Sueño?”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1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6</a:t>
            </a:r>
            <a:endParaRPr lang="en-US" sz="85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7AC95F06-6234-D98B-BF4A-8A9F5AFA4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520" y="6168197"/>
            <a:ext cx="1822134" cy="3534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ueno_assets/ppt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38" y="274320"/>
            <a:ext cx="1148684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</a:rPr>
              <a:t>¿Cómo medimos el avance del Sueño?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2A2A"/>
                </a:solidFill>
              </a:rPr>
              <a:t>El Sueño debe estar representado por KPIs estratégicos, con objetivos claros, desafiantes y alcanzables.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85800" y="2132584"/>
            <a:ext cx="516636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9" name="Shape 6"/>
          <p:cNvSpPr/>
          <p:nvPr/>
        </p:nvSpPr>
        <p:spPr>
          <a:xfrm>
            <a:off x="685800" y="2132584"/>
            <a:ext cx="201168" cy="868680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10" name="Text 7"/>
          <p:cNvSpPr/>
          <p:nvPr/>
        </p:nvSpPr>
        <p:spPr>
          <a:xfrm>
            <a:off x="1097280" y="22971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</a:rPr>
              <a:t>Servicio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26263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</a:rPr>
              <a:t>Nivel de servicio, ventana horaria, rechazos y experiencia del cliente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7920" y="2132584"/>
            <a:ext cx="516636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13" name="Shape 10"/>
          <p:cNvSpPr/>
          <p:nvPr/>
        </p:nvSpPr>
        <p:spPr>
          <a:xfrm>
            <a:off x="6217920" y="2132584"/>
            <a:ext cx="201168" cy="8686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14" name="Text 11"/>
          <p:cNvSpPr/>
          <p:nvPr/>
        </p:nvSpPr>
        <p:spPr>
          <a:xfrm>
            <a:off x="6629400" y="22971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</a:rPr>
              <a:t>Eficiencia operativa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29400" y="26263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</a:rPr>
              <a:t>Productividad, costo, ocupación, tiempos y km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5800" y="3275584"/>
            <a:ext cx="516636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17" name="Shape 14"/>
          <p:cNvSpPr/>
          <p:nvPr/>
        </p:nvSpPr>
        <p:spPr>
          <a:xfrm>
            <a:off x="685800" y="3275584"/>
            <a:ext cx="201168" cy="868680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18" name="Text 15"/>
          <p:cNvSpPr/>
          <p:nvPr/>
        </p:nvSpPr>
        <p:spPr>
          <a:xfrm>
            <a:off x="1097280" y="34401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</a:rPr>
              <a:t>Gente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7280" y="37693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</a:rPr>
              <a:t>Capacitación, compromiso, asistencia y participación en rutinas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17920" y="3275584"/>
            <a:ext cx="516636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21" name="Shape 18"/>
          <p:cNvSpPr/>
          <p:nvPr/>
        </p:nvSpPr>
        <p:spPr>
          <a:xfrm>
            <a:off x="6217920" y="3275584"/>
            <a:ext cx="201168" cy="8686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22" name="Text 19"/>
          <p:cNvSpPr/>
          <p:nvPr/>
        </p:nvSpPr>
        <p:spPr>
          <a:xfrm>
            <a:off x="6629400" y="34401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</a:rPr>
              <a:t>Clientes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29400" y="37693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</a:rPr>
              <a:t>Atención, comunicación, solución de desvíos y cumplimiento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85800" y="4418584"/>
            <a:ext cx="516636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25" name="Shape 22"/>
          <p:cNvSpPr/>
          <p:nvPr/>
        </p:nvSpPr>
        <p:spPr>
          <a:xfrm>
            <a:off x="685800" y="4418584"/>
            <a:ext cx="201168" cy="868680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26" name="Text 23"/>
          <p:cNvSpPr/>
          <p:nvPr/>
        </p:nvSpPr>
        <p:spPr>
          <a:xfrm>
            <a:off x="1097280" y="45831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</a:rPr>
              <a:t>Seguridad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97280" y="49123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s-MX" sz="1600" dirty="0">
                <a:solidFill>
                  <a:srgbClr val="6B6B6B"/>
                </a:solidFill>
              </a:rPr>
              <a:t>Cultura preventiva, entornos seguros y disciplina en el uso de EPPs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17920" y="4418584"/>
            <a:ext cx="516636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29" name="Shape 26"/>
          <p:cNvSpPr/>
          <p:nvPr/>
        </p:nvSpPr>
        <p:spPr>
          <a:xfrm>
            <a:off x="6217920" y="4418584"/>
            <a:ext cx="201168" cy="8686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1600"/>
          </a:p>
        </p:txBody>
      </p:sp>
      <p:sp>
        <p:nvSpPr>
          <p:cNvPr id="30" name="Text 27"/>
          <p:cNvSpPr/>
          <p:nvPr/>
        </p:nvSpPr>
        <p:spPr>
          <a:xfrm>
            <a:off x="6629400" y="45831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</a:rPr>
              <a:t>Medio ambiente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629400" y="49123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</a:rPr>
              <a:t>Orden, consumo responsable, residuos y reducción de impacto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51560" y="5596128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10020"/>
                </a:solidFill>
              </a:rPr>
              <a:t>El avance del Sueño se mide con indicadores, responsables, rutinas y acciones cuando hay desvíos.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1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7</a:t>
            </a:r>
            <a:endParaRPr lang="en-US" sz="85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E8551D5E-8D68-1DC3-2C54-C09E33A63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520" y="6168197"/>
            <a:ext cx="1822134" cy="353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6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8</a:t>
            </a:r>
            <a:endParaRPr lang="en-US" sz="85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102F797-FF07-B171-315D-7795111CA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520" y="6168197"/>
            <a:ext cx="1822134" cy="353446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E5D042BD-CFF3-B65F-5524-C4690CF14C9E}"/>
              </a:ext>
            </a:extLst>
          </p:cNvPr>
          <p:cNvSpPr txBox="1">
            <a:spLocks/>
          </p:cNvSpPr>
          <p:nvPr/>
        </p:nvSpPr>
        <p:spPr>
          <a:xfrm>
            <a:off x="463296" y="194402"/>
            <a:ext cx="11168794" cy="9941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800" dirty="0">
                <a:solidFill>
                  <a:srgbClr val="2A2A2A"/>
                </a:solidFill>
              </a:rPr>
              <a:t>El </a:t>
            </a:r>
            <a:r>
              <a:rPr lang="en-US" sz="1800" dirty="0" err="1">
                <a:solidFill>
                  <a:srgbClr val="2A2A2A"/>
                </a:solidFill>
              </a:rPr>
              <a:t>tablero</a:t>
            </a:r>
            <a:r>
              <a:rPr lang="en-US" sz="1800" dirty="0">
                <a:solidFill>
                  <a:srgbClr val="2A2A2A"/>
                </a:solidFill>
              </a:rPr>
              <a:t> </a:t>
            </a:r>
            <a:r>
              <a:rPr lang="en-US" sz="1800" dirty="0" err="1">
                <a:solidFill>
                  <a:srgbClr val="2A2A2A"/>
                </a:solidFill>
              </a:rPr>
              <a:t>físico</a:t>
            </a:r>
            <a:r>
              <a:rPr lang="en-US" sz="1800" dirty="0">
                <a:solidFill>
                  <a:srgbClr val="2A2A2A"/>
                </a:solidFill>
              </a:rPr>
              <a:t> </a:t>
            </a:r>
            <a:r>
              <a:rPr lang="en-US" sz="1800" dirty="0" err="1">
                <a:solidFill>
                  <a:srgbClr val="2A2A2A"/>
                </a:solidFill>
              </a:rPr>
              <a:t>muestra</a:t>
            </a:r>
            <a:r>
              <a:rPr lang="en-US" sz="1800" dirty="0">
                <a:solidFill>
                  <a:srgbClr val="2A2A2A"/>
                </a:solidFill>
              </a:rPr>
              <a:t> </a:t>
            </a:r>
            <a:r>
              <a:rPr lang="en-US" sz="1800" dirty="0" err="1">
                <a:solidFill>
                  <a:srgbClr val="2A2A2A"/>
                </a:solidFill>
              </a:rPr>
              <a:t>cómo</a:t>
            </a:r>
            <a:r>
              <a:rPr lang="en-US" sz="1800" dirty="0">
                <a:solidFill>
                  <a:srgbClr val="2A2A2A"/>
                </a:solidFill>
              </a:rPr>
              <a:t> un KPI de </a:t>
            </a:r>
            <a:r>
              <a:rPr lang="en-US" sz="1800" dirty="0" err="1">
                <a:solidFill>
                  <a:srgbClr val="2A2A2A"/>
                </a:solidFill>
              </a:rPr>
              <a:t>Sueño</a:t>
            </a:r>
            <a:r>
              <a:rPr lang="en-US" sz="1800" dirty="0">
                <a:solidFill>
                  <a:srgbClr val="2A2A2A"/>
                </a:solidFill>
              </a:rPr>
              <a:t> se </a:t>
            </a:r>
            <a:r>
              <a:rPr lang="en-US" sz="1800" dirty="0" err="1">
                <a:solidFill>
                  <a:srgbClr val="2A2A2A"/>
                </a:solidFill>
              </a:rPr>
              <a:t>conecta</a:t>
            </a:r>
            <a:r>
              <a:rPr lang="en-US" sz="1800" dirty="0">
                <a:solidFill>
                  <a:srgbClr val="2A2A2A"/>
                </a:solidFill>
              </a:rPr>
              <a:t> con </a:t>
            </a:r>
            <a:r>
              <a:rPr lang="en-US" sz="1800" dirty="0" err="1">
                <a:solidFill>
                  <a:srgbClr val="2A2A2A"/>
                </a:solidFill>
              </a:rPr>
              <a:t>indicadores</a:t>
            </a:r>
            <a:r>
              <a:rPr lang="en-US" sz="1800" dirty="0">
                <a:solidFill>
                  <a:srgbClr val="2A2A2A"/>
                </a:solidFill>
              </a:rPr>
              <a:t> de </a:t>
            </a:r>
            <a:r>
              <a:rPr lang="en-US" sz="1800" dirty="0" err="1">
                <a:solidFill>
                  <a:srgbClr val="2A2A2A"/>
                </a:solidFill>
              </a:rPr>
              <a:t>gestión</a:t>
            </a:r>
            <a:r>
              <a:rPr lang="en-US" sz="1800" dirty="0">
                <a:solidFill>
                  <a:srgbClr val="2A2A2A"/>
                </a:solidFill>
              </a:rPr>
              <a:t>, </a:t>
            </a:r>
            <a:r>
              <a:rPr lang="en-US" sz="1800" dirty="0" err="1">
                <a:solidFill>
                  <a:srgbClr val="2A2A2A"/>
                </a:solidFill>
              </a:rPr>
              <a:t>operación</a:t>
            </a:r>
            <a:r>
              <a:rPr lang="en-US" sz="1800" dirty="0">
                <a:solidFill>
                  <a:srgbClr val="2A2A2A"/>
                </a:solidFill>
              </a:rPr>
              <a:t> y </a:t>
            </a:r>
            <a:r>
              <a:rPr lang="en-US" sz="1800" dirty="0" err="1">
                <a:solidFill>
                  <a:srgbClr val="2A2A2A"/>
                </a:solidFill>
              </a:rPr>
              <a:t>nivel</a:t>
            </a:r>
            <a:r>
              <a:rPr lang="en-US" sz="1800" dirty="0">
                <a:solidFill>
                  <a:srgbClr val="2A2A2A"/>
                </a:solidFill>
              </a:rPr>
              <a:t> </a:t>
            </a:r>
            <a:r>
              <a:rPr lang="en-US" sz="1800" dirty="0" err="1">
                <a:solidFill>
                  <a:srgbClr val="2A2A2A"/>
                </a:solidFill>
              </a:rPr>
              <a:t>tarea</a:t>
            </a:r>
            <a:r>
              <a:rPr lang="en-US" sz="1800" dirty="0">
                <a:solidFill>
                  <a:srgbClr val="2A2A2A"/>
                </a:solidFill>
              </a:rPr>
              <a:t>.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anrope (Corpo)"/>
              <a:ea typeface="+mj-ea"/>
              <a:cs typeface="Arial"/>
            </a:endParaRPr>
          </a:p>
        </p:txBody>
      </p:sp>
      <p:sp>
        <p:nvSpPr>
          <p:cNvPr id="24" name="Retângulo 18">
            <a:extLst>
              <a:ext uri="{FF2B5EF4-FFF2-40B4-BE49-F238E27FC236}">
                <a16:creationId xmlns:a16="http://schemas.microsoft.com/office/drawing/2014/main" id="{C27F414A-C3AB-814D-CEF2-54EB67D7215B}"/>
              </a:ext>
            </a:extLst>
          </p:cNvPr>
          <p:cNvSpPr/>
          <p:nvPr/>
        </p:nvSpPr>
        <p:spPr>
          <a:xfrm>
            <a:off x="175084" y="852182"/>
            <a:ext cx="11929570" cy="573253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ángulo 19">
            <a:extLst>
              <a:ext uri="{FF2B5EF4-FFF2-40B4-BE49-F238E27FC236}">
                <a16:creationId xmlns:a16="http://schemas.microsoft.com/office/drawing/2014/main" id="{25708488-8A12-4FAD-09D0-BBB9E81ED15D}"/>
              </a:ext>
            </a:extLst>
          </p:cNvPr>
          <p:cNvSpPr/>
          <p:nvPr/>
        </p:nvSpPr>
        <p:spPr>
          <a:xfrm>
            <a:off x="1944426" y="978893"/>
            <a:ext cx="8612761" cy="61099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>
              <a:defRPr/>
            </a:pPr>
            <a:r>
              <a:rPr kumimoji="0" lang="es-MX" sz="140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Aquí el Sueño del Distribuidor: 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 la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distribuidora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elegida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reconocida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excelencia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servicio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eficiencia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operativa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compromiso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nuestra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gente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nuestros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la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seguridad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el medio </a:t>
            </a:r>
            <a:r>
              <a:rPr lang="en-US" sz="14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ambiente</a:t>
            </a:r>
            <a:r>
              <a:rPr lang="en-US" sz="1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" name="Conector de Seta Reta 14">
            <a:extLst>
              <a:ext uri="{FF2B5EF4-FFF2-40B4-BE49-F238E27FC236}">
                <a16:creationId xmlns:a16="http://schemas.microsoft.com/office/drawing/2014/main" id="{2C7C013F-6EC3-6FD2-5A82-37B52D94F549}"/>
              </a:ext>
            </a:extLst>
          </p:cNvPr>
          <p:cNvCxnSpPr>
            <a:cxnSpLocks/>
          </p:cNvCxnSpPr>
          <p:nvPr/>
        </p:nvCxnSpPr>
        <p:spPr>
          <a:xfrm flipV="1">
            <a:off x="7238484" y="2263119"/>
            <a:ext cx="0" cy="3922136"/>
          </a:xfrm>
          <a:prstGeom prst="straightConnector1">
            <a:avLst/>
          </a:prstGeom>
          <a:noFill/>
          <a:ln w="38100" cap="flat" cmpd="sng" algn="ctr">
            <a:solidFill>
              <a:srgbClr val="A5300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CaixaDeTexto 16">
            <a:extLst>
              <a:ext uri="{FF2B5EF4-FFF2-40B4-BE49-F238E27FC236}">
                <a16:creationId xmlns:a16="http://schemas.microsoft.com/office/drawing/2014/main" id="{8B018938-155E-EB88-DA4B-6049A477CF85}"/>
              </a:ext>
            </a:extLst>
          </p:cNvPr>
          <p:cNvSpPr txBox="1"/>
          <p:nvPr/>
        </p:nvSpPr>
        <p:spPr>
          <a:xfrm rot="16200000">
            <a:off x="6841721" y="3629333"/>
            <a:ext cx="1447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_tradnl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RESULTADOS
</a:t>
            </a:r>
          </a:p>
        </p:txBody>
      </p:sp>
      <p:sp>
        <p:nvSpPr>
          <p:cNvPr id="28" name="CuadroTexto 52">
            <a:extLst>
              <a:ext uri="{FF2B5EF4-FFF2-40B4-BE49-F238E27FC236}">
                <a16:creationId xmlns:a16="http://schemas.microsoft.com/office/drawing/2014/main" id="{713892FE-7CC0-FCC7-DB39-8BC444ABE74C}"/>
              </a:ext>
            </a:extLst>
          </p:cNvPr>
          <p:cNvSpPr txBox="1"/>
          <p:nvPr/>
        </p:nvSpPr>
        <p:spPr>
          <a:xfrm rot="16200000">
            <a:off x="946755" y="1886143"/>
            <a:ext cx="9335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ESTRATEGIA
</a:t>
            </a:r>
            <a:endParaRPr kumimoji="0" lang="es-A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CuadroTexto 72">
            <a:extLst>
              <a:ext uri="{FF2B5EF4-FFF2-40B4-BE49-F238E27FC236}">
                <a16:creationId xmlns:a16="http://schemas.microsoft.com/office/drawing/2014/main" id="{8E362F73-0D74-A2F4-C201-A69EB8EBB757}"/>
              </a:ext>
            </a:extLst>
          </p:cNvPr>
          <p:cNvSpPr txBox="1"/>
          <p:nvPr/>
        </p:nvSpPr>
        <p:spPr>
          <a:xfrm rot="16200000">
            <a:off x="732016" y="3554107"/>
            <a:ext cx="13895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 GESTIÓN
</a:t>
            </a:r>
            <a:endParaRPr kumimoji="0" lang="es-A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CuadroTexto 73">
            <a:extLst>
              <a:ext uri="{FF2B5EF4-FFF2-40B4-BE49-F238E27FC236}">
                <a16:creationId xmlns:a16="http://schemas.microsoft.com/office/drawing/2014/main" id="{9A5E0ACD-1D49-C406-2776-9EE416035B18}"/>
              </a:ext>
            </a:extLst>
          </p:cNvPr>
          <p:cNvSpPr txBox="1"/>
          <p:nvPr/>
        </p:nvSpPr>
        <p:spPr>
          <a:xfrm rot="16200000">
            <a:off x="820747" y="5445400"/>
            <a:ext cx="1212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OPERACIONAL
</a:t>
            </a:r>
            <a:endParaRPr kumimoji="0" lang="es-A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1" name="Conector de Seta Reta 28">
            <a:extLst>
              <a:ext uri="{FF2B5EF4-FFF2-40B4-BE49-F238E27FC236}">
                <a16:creationId xmlns:a16="http://schemas.microsoft.com/office/drawing/2014/main" id="{9A15A01A-2C10-BB04-BFB3-BB30D27029FB}"/>
              </a:ext>
            </a:extLst>
          </p:cNvPr>
          <p:cNvCxnSpPr/>
          <p:nvPr/>
        </p:nvCxnSpPr>
        <p:spPr>
          <a:xfrm>
            <a:off x="794872" y="1925743"/>
            <a:ext cx="0" cy="3922136"/>
          </a:xfrm>
          <a:prstGeom prst="straightConnector1">
            <a:avLst/>
          </a:prstGeom>
          <a:noFill/>
          <a:ln w="38100" cap="flat" cmpd="sng" algn="ctr">
            <a:solidFill>
              <a:srgbClr val="A5300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CaixaDeTexto 29">
            <a:extLst>
              <a:ext uri="{FF2B5EF4-FFF2-40B4-BE49-F238E27FC236}">
                <a16:creationId xmlns:a16="http://schemas.microsoft.com/office/drawing/2014/main" id="{34D427DB-1D19-06DE-53BC-CA02DC6EF28A}"/>
              </a:ext>
            </a:extLst>
          </p:cNvPr>
          <p:cNvSpPr txBox="1"/>
          <p:nvPr/>
        </p:nvSpPr>
        <p:spPr>
          <a:xfrm rot="16200000">
            <a:off x="-1429746" y="3654724"/>
            <a:ext cx="3985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PROCESO – CASCADEO DEL INDICADOR </a:t>
            </a:r>
          </a:p>
        </p:txBody>
      </p:sp>
      <p:cxnSp>
        <p:nvCxnSpPr>
          <p:cNvPr id="33" name="Conector reto 30">
            <a:extLst>
              <a:ext uri="{FF2B5EF4-FFF2-40B4-BE49-F238E27FC236}">
                <a16:creationId xmlns:a16="http://schemas.microsoft.com/office/drawing/2014/main" id="{A1A4E411-19B6-A985-F688-984AB9DF6113}"/>
              </a:ext>
            </a:extLst>
          </p:cNvPr>
          <p:cNvCxnSpPr>
            <a:cxnSpLocks/>
          </p:cNvCxnSpPr>
          <p:nvPr/>
        </p:nvCxnSpPr>
        <p:spPr>
          <a:xfrm>
            <a:off x="1295992" y="2797412"/>
            <a:ext cx="93275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1">
            <a:extLst>
              <a:ext uri="{FF2B5EF4-FFF2-40B4-BE49-F238E27FC236}">
                <a16:creationId xmlns:a16="http://schemas.microsoft.com/office/drawing/2014/main" id="{84BC3824-B702-1EB5-2533-4BD1A9A82026}"/>
              </a:ext>
            </a:extLst>
          </p:cNvPr>
          <p:cNvCxnSpPr>
            <a:cxnSpLocks/>
          </p:cNvCxnSpPr>
          <p:nvPr/>
        </p:nvCxnSpPr>
        <p:spPr>
          <a:xfrm>
            <a:off x="1295992" y="4770916"/>
            <a:ext cx="93275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2">
            <a:extLst>
              <a:ext uri="{FF2B5EF4-FFF2-40B4-BE49-F238E27FC236}">
                <a16:creationId xmlns:a16="http://schemas.microsoft.com/office/drawing/2014/main" id="{DEE35291-3899-7CE2-CDC6-134020D42768}"/>
              </a:ext>
            </a:extLst>
          </p:cNvPr>
          <p:cNvCxnSpPr/>
          <p:nvPr/>
        </p:nvCxnSpPr>
        <p:spPr>
          <a:xfrm>
            <a:off x="3030639" y="5768339"/>
            <a:ext cx="66663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73">
            <a:extLst>
              <a:ext uri="{FF2B5EF4-FFF2-40B4-BE49-F238E27FC236}">
                <a16:creationId xmlns:a16="http://schemas.microsoft.com/office/drawing/2014/main" id="{E91D487F-2531-4EEB-29E2-A1462132CB0C}"/>
              </a:ext>
            </a:extLst>
          </p:cNvPr>
          <p:cNvSpPr txBox="1"/>
          <p:nvPr/>
        </p:nvSpPr>
        <p:spPr>
          <a:xfrm rot="16200000">
            <a:off x="1214865" y="5843495"/>
            <a:ext cx="1001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ESTACIÓN DE TRABAJO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NIVEL TAREA</a:t>
            </a:r>
          </a:p>
        </p:txBody>
      </p:sp>
      <p:cxnSp>
        <p:nvCxnSpPr>
          <p:cNvPr id="37" name="Conector reto 34">
            <a:extLst>
              <a:ext uri="{FF2B5EF4-FFF2-40B4-BE49-F238E27FC236}">
                <a16:creationId xmlns:a16="http://schemas.microsoft.com/office/drawing/2014/main" id="{BAC68EB6-9BB2-ADD8-13F1-C8B80E0FE041}"/>
              </a:ext>
            </a:extLst>
          </p:cNvPr>
          <p:cNvCxnSpPr/>
          <p:nvPr/>
        </p:nvCxnSpPr>
        <p:spPr>
          <a:xfrm>
            <a:off x="2979839" y="3798266"/>
            <a:ext cx="66663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Imagem 35" descr="Forma&#10;&#10;Descrição gerada automaticamente com confiança média">
            <a:extLst>
              <a:ext uri="{FF2B5EF4-FFF2-40B4-BE49-F238E27FC236}">
                <a16:creationId xmlns:a16="http://schemas.microsoft.com/office/drawing/2014/main" id="{B3A59C8A-428C-D0D7-EADD-A78FCBF8E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7448" y="1083785"/>
            <a:ext cx="956201" cy="213129"/>
          </a:xfrm>
          <a:prstGeom prst="rect">
            <a:avLst/>
          </a:prstGeom>
        </p:spPr>
      </p:pic>
      <p:pic>
        <p:nvPicPr>
          <p:cNvPr id="39" name="Imagem 36">
            <a:extLst>
              <a:ext uri="{FF2B5EF4-FFF2-40B4-BE49-F238E27FC236}">
                <a16:creationId xmlns:a16="http://schemas.microsoft.com/office/drawing/2014/main" id="{F144929F-E18D-8EC4-28AA-19A9552032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66" y="881286"/>
            <a:ext cx="926959" cy="532029"/>
          </a:xfrm>
          <a:prstGeom prst="rect">
            <a:avLst/>
          </a:prstGeom>
        </p:spPr>
      </p:pic>
      <p:graphicFrame>
        <p:nvGraphicFramePr>
          <p:cNvPr id="40" name="Tabela 41">
            <a:extLst>
              <a:ext uri="{FF2B5EF4-FFF2-40B4-BE49-F238E27FC236}">
                <a16:creationId xmlns:a16="http://schemas.microsoft.com/office/drawing/2014/main" id="{70053E0A-C1C0-3420-098D-104480874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930069"/>
              </p:ext>
            </p:extLst>
          </p:nvPr>
        </p:nvGraphicFramePr>
        <p:xfrm>
          <a:off x="2247907" y="1838723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latin typeface="+mn-lt"/>
                        </a:rPr>
                        <a:t>Productividad</a:t>
                      </a:r>
                      <a:r>
                        <a:rPr lang="pt-BR" sz="1100" dirty="0">
                          <a:latin typeface="+mn-lt"/>
                        </a:rPr>
                        <a:t> </a:t>
                      </a:r>
                      <a:r>
                        <a:rPr lang="pt-BR" sz="1100" dirty="0" err="1">
                          <a:latin typeface="+mn-lt"/>
                        </a:rPr>
                        <a:t>Picking</a:t>
                      </a:r>
                      <a:endParaRPr lang="pt-BR" sz="1100" dirty="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198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r>
                        <a:rPr lang="pt-BR" sz="1000" b="1" dirty="0">
                          <a:latin typeface="+mn-lt"/>
                        </a:rPr>
                        <a:t> (</a:t>
                      </a:r>
                      <a:r>
                        <a:rPr lang="pt-BR" sz="1000" b="1" dirty="0" err="1">
                          <a:latin typeface="+mn-lt"/>
                        </a:rPr>
                        <a:t>Año</a:t>
                      </a:r>
                      <a:r>
                        <a:rPr lang="pt-BR" sz="1000" b="1" dirty="0">
                          <a:latin typeface="+mn-lt"/>
                        </a:rPr>
                        <a:t>)</a:t>
                      </a: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 dirty="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sp>
        <p:nvSpPr>
          <p:cNvPr id="41" name="Flecha: hacia arriba 1">
            <a:extLst>
              <a:ext uri="{FF2B5EF4-FFF2-40B4-BE49-F238E27FC236}">
                <a16:creationId xmlns:a16="http://schemas.microsoft.com/office/drawing/2014/main" id="{28308284-D5A6-EAC3-FE96-C2E1C68C563B}"/>
              </a:ext>
            </a:extLst>
          </p:cNvPr>
          <p:cNvSpPr/>
          <p:nvPr/>
        </p:nvSpPr>
        <p:spPr>
          <a:xfrm rot="10800000">
            <a:off x="3096829" y="2618375"/>
            <a:ext cx="235660" cy="236667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2" name="Tabela 41">
            <a:extLst>
              <a:ext uri="{FF2B5EF4-FFF2-40B4-BE49-F238E27FC236}">
                <a16:creationId xmlns:a16="http://schemas.microsoft.com/office/drawing/2014/main" id="{DD440878-C981-2BD7-173A-1ECBC18D9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458683"/>
              </p:ext>
            </p:extLst>
          </p:nvPr>
        </p:nvGraphicFramePr>
        <p:xfrm>
          <a:off x="2247907" y="2868540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latin typeface="+mn-lt"/>
                        </a:rPr>
                        <a:t>Productividad</a:t>
                      </a:r>
                      <a:r>
                        <a:rPr lang="pt-BR" sz="1100" dirty="0">
                          <a:latin typeface="+mn-lt"/>
                        </a:rPr>
                        <a:t> por hora</a:t>
                      </a:r>
                    </a:p>
                  </a:txBody>
                  <a:tcPr marT="41564" marB="41564" anchor="ctr">
                    <a:solidFill>
                      <a:srgbClr val="E198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endParaRPr lang="pt-BR" sz="1000" b="1" dirty="0">
                        <a:latin typeface="+mn-lt"/>
                      </a:endParaRP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graphicFrame>
        <p:nvGraphicFramePr>
          <p:cNvPr id="43" name="Tabela 41">
            <a:extLst>
              <a:ext uri="{FF2B5EF4-FFF2-40B4-BE49-F238E27FC236}">
                <a16:creationId xmlns:a16="http://schemas.microsoft.com/office/drawing/2014/main" id="{B17B44B8-CFA5-7D03-A40F-93195CD7E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778060"/>
              </p:ext>
            </p:extLst>
          </p:nvPr>
        </p:nvGraphicFramePr>
        <p:xfrm>
          <a:off x="2247907" y="3881884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latin typeface="+mn-lt"/>
                        </a:rPr>
                        <a:t>Volumen</a:t>
                      </a:r>
                      <a:r>
                        <a:rPr lang="pt-BR" sz="1100" dirty="0">
                          <a:latin typeface="+mn-lt"/>
                        </a:rPr>
                        <a:t> </a:t>
                      </a:r>
                      <a:r>
                        <a:rPr lang="pt-BR" sz="1100" dirty="0" err="1">
                          <a:latin typeface="+mn-lt"/>
                        </a:rPr>
                        <a:t>procesado</a:t>
                      </a:r>
                      <a:endParaRPr lang="pt-BR" sz="1100" dirty="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198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endParaRPr lang="pt-BR" sz="1000" b="1" dirty="0">
                        <a:latin typeface="+mn-lt"/>
                      </a:endParaRP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graphicFrame>
        <p:nvGraphicFramePr>
          <p:cNvPr id="44" name="Tabela 41">
            <a:extLst>
              <a:ext uri="{FF2B5EF4-FFF2-40B4-BE49-F238E27FC236}">
                <a16:creationId xmlns:a16="http://schemas.microsoft.com/office/drawing/2014/main" id="{269584D5-CC93-8AD2-A61C-9BE07B4F5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064343"/>
              </p:ext>
            </p:extLst>
          </p:nvPr>
        </p:nvGraphicFramePr>
        <p:xfrm>
          <a:off x="2247907" y="4858753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latin typeface="+mn-lt"/>
                        </a:rPr>
                        <a:t>Bultos</a:t>
                      </a:r>
                      <a:r>
                        <a:rPr lang="pt-BR" sz="1100" dirty="0">
                          <a:latin typeface="+mn-lt"/>
                        </a:rPr>
                        <a:t> </a:t>
                      </a:r>
                      <a:r>
                        <a:rPr lang="pt-BR" sz="1100" dirty="0" err="1">
                          <a:latin typeface="+mn-lt"/>
                        </a:rPr>
                        <a:t>pickeados</a:t>
                      </a:r>
                      <a:r>
                        <a:rPr lang="pt-BR" sz="1100" dirty="0">
                          <a:latin typeface="+mn-lt"/>
                        </a:rPr>
                        <a:t>/hora</a:t>
                      </a:r>
                    </a:p>
                  </a:txBody>
                  <a:tcPr marT="41564" marB="41564" anchor="ctr">
                    <a:solidFill>
                      <a:srgbClr val="E198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endParaRPr lang="pt-BR" sz="1000" b="1" dirty="0">
                        <a:latin typeface="+mn-lt"/>
                      </a:endParaRP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graphicFrame>
        <p:nvGraphicFramePr>
          <p:cNvPr id="45" name="Tabela 41">
            <a:extLst>
              <a:ext uri="{FF2B5EF4-FFF2-40B4-BE49-F238E27FC236}">
                <a16:creationId xmlns:a16="http://schemas.microsoft.com/office/drawing/2014/main" id="{146E84B5-ACCF-1F08-F66B-2D80816E1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48466"/>
              </p:ext>
            </p:extLst>
          </p:nvPr>
        </p:nvGraphicFramePr>
        <p:xfrm>
          <a:off x="2233036" y="5856264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latin typeface="+mn-lt"/>
                        </a:rPr>
                        <a:t>Introducir</a:t>
                      </a:r>
                      <a:r>
                        <a:rPr lang="pt-BR" sz="1100" dirty="0">
                          <a:latin typeface="+mn-lt"/>
                        </a:rPr>
                        <a:t> PI</a:t>
                      </a:r>
                    </a:p>
                  </a:txBody>
                  <a:tcPr marT="41564" marB="41564" anchor="ctr">
                    <a:solidFill>
                      <a:srgbClr val="E198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endParaRPr lang="pt-BR" sz="1000" b="1" dirty="0">
                        <a:latin typeface="+mn-lt"/>
                      </a:endParaRP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sp>
        <p:nvSpPr>
          <p:cNvPr id="46" name="Flecha: hacia arriba 1">
            <a:extLst>
              <a:ext uri="{FF2B5EF4-FFF2-40B4-BE49-F238E27FC236}">
                <a16:creationId xmlns:a16="http://schemas.microsoft.com/office/drawing/2014/main" id="{DBB98A32-C84D-0027-CF43-B1233BA14D6B}"/>
              </a:ext>
            </a:extLst>
          </p:cNvPr>
          <p:cNvSpPr/>
          <p:nvPr/>
        </p:nvSpPr>
        <p:spPr>
          <a:xfrm rot="10800000">
            <a:off x="3096826" y="1587659"/>
            <a:ext cx="235662" cy="236669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Flecha: hacia arriba 1">
            <a:extLst>
              <a:ext uri="{FF2B5EF4-FFF2-40B4-BE49-F238E27FC236}">
                <a16:creationId xmlns:a16="http://schemas.microsoft.com/office/drawing/2014/main" id="{04CB7CB1-EEB6-F095-6789-19A33DF1F4CC}"/>
              </a:ext>
            </a:extLst>
          </p:cNvPr>
          <p:cNvSpPr/>
          <p:nvPr/>
        </p:nvSpPr>
        <p:spPr>
          <a:xfrm rot="10800000">
            <a:off x="3096828" y="3611158"/>
            <a:ext cx="235660" cy="236667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lecha: hacia arriba 1">
            <a:extLst>
              <a:ext uri="{FF2B5EF4-FFF2-40B4-BE49-F238E27FC236}">
                <a16:creationId xmlns:a16="http://schemas.microsoft.com/office/drawing/2014/main" id="{465F4151-EF73-CB52-D0A7-E4794D22953A}"/>
              </a:ext>
            </a:extLst>
          </p:cNvPr>
          <p:cNvSpPr/>
          <p:nvPr/>
        </p:nvSpPr>
        <p:spPr>
          <a:xfrm rot="10800000">
            <a:off x="3096828" y="4624502"/>
            <a:ext cx="235659" cy="236666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Flecha: hacia arriba 1">
            <a:extLst>
              <a:ext uri="{FF2B5EF4-FFF2-40B4-BE49-F238E27FC236}">
                <a16:creationId xmlns:a16="http://schemas.microsoft.com/office/drawing/2014/main" id="{71382A72-B9EF-3618-BCDC-0C42B7170DF7}"/>
              </a:ext>
            </a:extLst>
          </p:cNvPr>
          <p:cNvSpPr/>
          <p:nvPr/>
        </p:nvSpPr>
        <p:spPr>
          <a:xfrm rot="10800000">
            <a:off x="3096828" y="5610080"/>
            <a:ext cx="235660" cy="236667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0" name="Tabela 41">
            <a:extLst>
              <a:ext uri="{FF2B5EF4-FFF2-40B4-BE49-F238E27FC236}">
                <a16:creationId xmlns:a16="http://schemas.microsoft.com/office/drawing/2014/main" id="{428D2D0F-325B-BD72-5497-042CB71D0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926943"/>
              </p:ext>
            </p:extLst>
          </p:nvPr>
        </p:nvGraphicFramePr>
        <p:xfrm>
          <a:off x="4944839" y="1825226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latin typeface="+mn-lt"/>
                        </a:rPr>
                        <a:t>Tiempo</a:t>
                      </a:r>
                      <a:r>
                        <a:rPr lang="pt-BR" sz="1100" dirty="0">
                          <a:latin typeface="+mn-lt"/>
                        </a:rPr>
                        <a:t> </a:t>
                      </a:r>
                      <a:r>
                        <a:rPr lang="pt-BR" sz="1100" dirty="0" err="1">
                          <a:latin typeface="+mn-lt"/>
                        </a:rPr>
                        <a:t>en</a:t>
                      </a:r>
                      <a:r>
                        <a:rPr lang="pt-BR" sz="1100" dirty="0">
                          <a:latin typeface="+mn-lt"/>
                        </a:rPr>
                        <a:t> ruta</a:t>
                      </a:r>
                    </a:p>
                  </a:txBody>
                  <a:tcPr marT="41564" marB="41564" anchor="ctr">
                    <a:solidFill>
                      <a:srgbClr val="D5581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r>
                        <a:rPr lang="pt-BR" sz="1000" b="1" dirty="0">
                          <a:latin typeface="+mn-lt"/>
                        </a:rPr>
                        <a:t> (</a:t>
                      </a:r>
                      <a:r>
                        <a:rPr lang="pt-BR" sz="1000" b="1" dirty="0" err="1">
                          <a:latin typeface="+mn-lt"/>
                        </a:rPr>
                        <a:t>Año</a:t>
                      </a:r>
                      <a:r>
                        <a:rPr lang="pt-BR" sz="1000" b="1" dirty="0">
                          <a:latin typeface="+mn-lt"/>
                        </a:rPr>
                        <a:t>)</a:t>
                      </a: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sp>
        <p:nvSpPr>
          <p:cNvPr id="51" name="Flecha: hacia arriba 1">
            <a:extLst>
              <a:ext uri="{FF2B5EF4-FFF2-40B4-BE49-F238E27FC236}">
                <a16:creationId xmlns:a16="http://schemas.microsoft.com/office/drawing/2014/main" id="{A814E5C6-6380-EE23-BEA9-53D46389206C}"/>
              </a:ext>
            </a:extLst>
          </p:cNvPr>
          <p:cNvSpPr/>
          <p:nvPr/>
        </p:nvSpPr>
        <p:spPr>
          <a:xfrm rot="10800000">
            <a:off x="5793760" y="2593971"/>
            <a:ext cx="235660" cy="236667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2" name="Tabela 41">
            <a:extLst>
              <a:ext uri="{FF2B5EF4-FFF2-40B4-BE49-F238E27FC236}">
                <a16:creationId xmlns:a16="http://schemas.microsoft.com/office/drawing/2014/main" id="{21C18C6F-3A3A-0613-0063-4FE2D9E56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661946"/>
              </p:ext>
            </p:extLst>
          </p:nvPr>
        </p:nvGraphicFramePr>
        <p:xfrm>
          <a:off x="4944839" y="2855043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latin typeface="+mn-lt"/>
                        </a:rPr>
                        <a:t>Desvio</a:t>
                      </a:r>
                    </a:p>
                  </a:txBody>
                  <a:tcPr marT="41564" marB="41564" anchor="ctr">
                    <a:solidFill>
                      <a:srgbClr val="D5581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endParaRPr lang="pt-BR" sz="1000" b="1" dirty="0">
                        <a:latin typeface="+mn-lt"/>
                      </a:endParaRP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graphicFrame>
        <p:nvGraphicFramePr>
          <p:cNvPr id="53" name="Tabela 41">
            <a:extLst>
              <a:ext uri="{FF2B5EF4-FFF2-40B4-BE49-F238E27FC236}">
                <a16:creationId xmlns:a16="http://schemas.microsoft.com/office/drawing/2014/main" id="{4DDE9606-85DB-61CF-B517-DFBE0E3BC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916383"/>
              </p:ext>
            </p:extLst>
          </p:nvPr>
        </p:nvGraphicFramePr>
        <p:xfrm>
          <a:off x="4944839" y="3868387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latin typeface="+mn-lt"/>
                        </a:rPr>
                        <a:t>Paradas no programadas</a:t>
                      </a:r>
                    </a:p>
                  </a:txBody>
                  <a:tcPr marT="41564" marB="41564" anchor="ctr">
                    <a:solidFill>
                      <a:srgbClr val="D5581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endParaRPr lang="pt-BR" sz="1000" b="1" dirty="0">
                        <a:latin typeface="+mn-lt"/>
                      </a:endParaRP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graphicFrame>
        <p:nvGraphicFramePr>
          <p:cNvPr id="54" name="Tabela 41">
            <a:extLst>
              <a:ext uri="{FF2B5EF4-FFF2-40B4-BE49-F238E27FC236}">
                <a16:creationId xmlns:a16="http://schemas.microsoft.com/office/drawing/2014/main" id="{447473E7-637D-813F-B0A9-BC3991225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214401"/>
              </p:ext>
            </p:extLst>
          </p:nvPr>
        </p:nvGraphicFramePr>
        <p:xfrm>
          <a:off x="4944839" y="4845256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latin typeface="+mn-lt"/>
                        </a:rPr>
                        <a:t>Desvio KM</a:t>
                      </a:r>
                    </a:p>
                  </a:txBody>
                  <a:tcPr marT="41564" marB="41564" anchor="ctr">
                    <a:solidFill>
                      <a:srgbClr val="D5581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endParaRPr lang="pt-BR" sz="1000" b="1" dirty="0">
                        <a:latin typeface="+mn-lt"/>
                      </a:endParaRP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graphicFrame>
        <p:nvGraphicFramePr>
          <p:cNvPr id="55" name="Tabela 41">
            <a:extLst>
              <a:ext uri="{FF2B5EF4-FFF2-40B4-BE49-F238E27FC236}">
                <a16:creationId xmlns:a16="http://schemas.microsoft.com/office/drawing/2014/main" id="{610E5906-EA56-A163-168A-F0468D41C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655824"/>
              </p:ext>
            </p:extLst>
          </p:nvPr>
        </p:nvGraphicFramePr>
        <p:xfrm>
          <a:off x="4929968" y="5893707"/>
          <a:ext cx="1963241" cy="7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57">
                  <a:extLst>
                    <a:ext uri="{9D8B030D-6E8A-4147-A177-3AD203B41FA5}">
                      <a16:colId xmlns:a16="http://schemas.microsoft.com/office/drawing/2014/main" val="1595929712"/>
                    </a:ext>
                  </a:extLst>
                </a:gridCol>
                <a:gridCol w="845557">
                  <a:extLst>
                    <a:ext uri="{9D8B030D-6E8A-4147-A177-3AD203B41FA5}">
                      <a16:colId xmlns:a16="http://schemas.microsoft.com/office/drawing/2014/main" val="3311691334"/>
                    </a:ext>
                  </a:extLst>
                </a:gridCol>
                <a:gridCol w="272127">
                  <a:extLst>
                    <a:ext uri="{9D8B030D-6E8A-4147-A177-3AD203B41FA5}">
                      <a16:colId xmlns:a16="http://schemas.microsoft.com/office/drawing/2014/main" val="1863626648"/>
                    </a:ext>
                  </a:extLst>
                </a:gridCol>
              </a:tblGrid>
              <a:tr h="26279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latin typeface="+mn-lt"/>
                        </a:rPr>
                        <a:t>Rechazos</a:t>
                      </a:r>
                      <a:endParaRPr lang="pt-BR" sz="1100" dirty="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D5581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57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 b="1">
                          <a:latin typeface="+mn-lt"/>
                        </a:rPr>
                        <a:t>YTD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 err="1">
                          <a:latin typeface="+mn-lt"/>
                        </a:rPr>
                        <a:t>Obj</a:t>
                      </a:r>
                      <a:endParaRPr lang="pt-BR" sz="1000" b="1" dirty="0">
                        <a:latin typeface="+mn-lt"/>
                      </a:endParaRPr>
                    </a:p>
                  </a:txBody>
                  <a:tcPr marT="41564" marB="415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  <a:cs typeface="Times New Roman" panose="02020603050405020304" pitchFamily="18" charset="0"/>
                        </a:rPr>
                        <a:t>↑</a:t>
                      </a:r>
                      <a:endParaRPr lang="pt-BR" sz="1000">
                        <a:latin typeface="+mn-lt"/>
                      </a:endParaRPr>
                    </a:p>
                  </a:txBody>
                  <a:tcPr marT="41564" marB="41564" anchor="ctr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780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00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latin typeface="+mn-lt"/>
                        </a:rPr>
                        <a:t>XX%</a:t>
                      </a:r>
                    </a:p>
                  </a:txBody>
                  <a:tcPr marT="41564" marB="41564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053136"/>
                  </a:ext>
                </a:extLst>
              </a:tr>
            </a:tbl>
          </a:graphicData>
        </a:graphic>
      </p:graphicFrame>
      <p:sp>
        <p:nvSpPr>
          <p:cNvPr id="56" name="Flecha: hacia arriba 1">
            <a:extLst>
              <a:ext uri="{FF2B5EF4-FFF2-40B4-BE49-F238E27FC236}">
                <a16:creationId xmlns:a16="http://schemas.microsoft.com/office/drawing/2014/main" id="{D22492F2-9EF1-145E-706D-D01E49ECBD5F}"/>
              </a:ext>
            </a:extLst>
          </p:cNvPr>
          <p:cNvSpPr/>
          <p:nvPr/>
        </p:nvSpPr>
        <p:spPr>
          <a:xfrm rot="10800000">
            <a:off x="5793760" y="1593730"/>
            <a:ext cx="235662" cy="236669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Flecha: hacia arriba 1">
            <a:extLst>
              <a:ext uri="{FF2B5EF4-FFF2-40B4-BE49-F238E27FC236}">
                <a16:creationId xmlns:a16="http://schemas.microsoft.com/office/drawing/2014/main" id="{AAA50B46-39E5-AC98-CC9D-1E1BE433D4FA}"/>
              </a:ext>
            </a:extLst>
          </p:cNvPr>
          <p:cNvSpPr/>
          <p:nvPr/>
        </p:nvSpPr>
        <p:spPr>
          <a:xfrm rot="10800000">
            <a:off x="5793760" y="3597661"/>
            <a:ext cx="235660" cy="236667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lecha: hacia arriba 1">
            <a:extLst>
              <a:ext uri="{FF2B5EF4-FFF2-40B4-BE49-F238E27FC236}">
                <a16:creationId xmlns:a16="http://schemas.microsoft.com/office/drawing/2014/main" id="{9B8AA3C3-2E74-D41A-312F-C7D623C5B71E}"/>
              </a:ext>
            </a:extLst>
          </p:cNvPr>
          <p:cNvSpPr/>
          <p:nvPr/>
        </p:nvSpPr>
        <p:spPr>
          <a:xfrm rot="10800000">
            <a:off x="5793760" y="4611005"/>
            <a:ext cx="235659" cy="236666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Flecha: hacia arriba 1">
            <a:extLst>
              <a:ext uri="{FF2B5EF4-FFF2-40B4-BE49-F238E27FC236}">
                <a16:creationId xmlns:a16="http://schemas.microsoft.com/office/drawing/2014/main" id="{1E81BDEE-A418-5811-AFDB-CC05D1810CAB}"/>
              </a:ext>
            </a:extLst>
          </p:cNvPr>
          <p:cNvSpPr/>
          <p:nvPr/>
        </p:nvSpPr>
        <p:spPr>
          <a:xfrm rot="10800000">
            <a:off x="5793760" y="5596583"/>
            <a:ext cx="235660" cy="236667"/>
          </a:xfrm>
          <a:prstGeom prst="upArrow">
            <a:avLst/>
          </a:prstGeom>
          <a:solidFill>
            <a:srgbClr val="AE301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38B4733E-A154-6122-9920-BDA20DE631A1}"/>
              </a:ext>
            </a:extLst>
          </p:cNvPr>
          <p:cNvSpPr/>
          <p:nvPr/>
        </p:nvSpPr>
        <p:spPr>
          <a:xfrm>
            <a:off x="7855080" y="2224329"/>
            <a:ext cx="4134207" cy="3734229"/>
          </a:xfrm>
          <a:prstGeom prst="rect">
            <a:avLst/>
          </a:prstGeom>
          <a:solidFill>
            <a:srgbClr val="F3F4F6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69A4ED8F-7405-533E-9B35-04C5516AD112}"/>
              </a:ext>
            </a:extLst>
          </p:cNvPr>
          <p:cNvSpPr/>
          <p:nvPr/>
        </p:nvSpPr>
        <p:spPr>
          <a:xfrm>
            <a:off x="8175120" y="2479361"/>
            <a:ext cx="3549572" cy="287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10020"/>
                </a:solidFill>
              </a:rPr>
              <a:t>Cómo leerlo</a:t>
            </a:r>
            <a:endParaRPr lang="en-US" sz="2200" dirty="0"/>
          </a:p>
        </p:txBody>
      </p:sp>
      <p:sp>
        <p:nvSpPr>
          <p:cNvPr id="62" name="Shape 7">
            <a:extLst>
              <a:ext uri="{FF2B5EF4-FFF2-40B4-BE49-F238E27FC236}">
                <a16:creationId xmlns:a16="http://schemas.microsoft.com/office/drawing/2014/main" id="{B4334F8D-D659-4135-B074-D3789F8AFACF}"/>
              </a:ext>
            </a:extLst>
          </p:cNvPr>
          <p:cNvSpPr/>
          <p:nvPr/>
        </p:nvSpPr>
        <p:spPr>
          <a:xfrm>
            <a:off x="8182232" y="3315807"/>
            <a:ext cx="108575" cy="116976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59F293BC-C4CC-2064-760D-392CF8AA4D85}"/>
              </a:ext>
            </a:extLst>
          </p:cNvPr>
          <p:cNvSpPr/>
          <p:nvPr/>
        </p:nvSpPr>
        <p:spPr>
          <a:xfrm>
            <a:off x="8431152" y="3114819"/>
            <a:ext cx="3466052" cy="56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</a:rPr>
              <a:t>Arriba: KPI que representa el Sueño.</a:t>
            </a:r>
            <a:endParaRPr lang="en-US" sz="1600" dirty="0"/>
          </a:p>
        </p:txBody>
      </p:sp>
      <p:sp>
        <p:nvSpPr>
          <p:cNvPr id="64" name="Shape 9">
            <a:extLst>
              <a:ext uri="{FF2B5EF4-FFF2-40B4-BE49-F238E27FC236}">
                <a16:creationId xmlns:a16="http://schemas.microsoft.com/office/drawing/2014/main" id="{F16E95FE-7971-C5FB-3351-2ABAA95A6252}"/>
              </a:ext>
            </a:extLst>
          </p:cNvPr>
          <p:cNvSpPr/>
          <p:nvPr/>
        </p:nvSpPr>
        <p:spPr>
          <a:xfrm>
            <a:off x="8175120" y="3879687"/>
            <a:ext cx="108575" cy="116976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D53E7C2C-F3F5-3BA4-0406-FB86D3EF0D1C}"/>
              </a:ext>
            </a:extLst>
          </p:cNvPr>
          <p:cNvSpPr/>
          <p:nvPr/>
        </p:nvSpPr>
        <p:spPr>
          <a:xfrm>
            <a:off x="8431152" y="3646355"/>
            <a:ext cx="3466052" cy="639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</a:rPr>
              <a:t>Medio: indicadores de gestión y operación.</a:t>
            </a:r>
            <a:endParaRPr lang="en-US" sz="1600" dirty="0"/>
          </a:p>
        </p:txBody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B3B4B5EA-D7BA-1606-A018-F1E8A267360F}"/>
              </a:ext>
            </a:extLst>
          </p:cNvPr>
          <p:cNvSpPr/>
          <p:nvPr/>
        </p:nvSpPr>
        <p:spPr>
          <a:xfrm>
            <a:off x="8175120" y="4410039"/>
            <a:ext cx="108575" cy="116976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8D6A1799-C5FD-2F8E-FB3C-1E04AFBE3559}"/>
              </a:ext>
            </a:extLst>
          </p:cNvPr>
          <p:cNvSpPr/>
          <p:nvPr/>
        </p:nvSpPr>
        <p:spPr>
          <a:xfrm>
            <a:off x="8431152" y="4385577"/>
            <a:ext cx="3466052" cy="55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</a:rPr>
              <a:t>Abajo: indicadores del proceso y tarea diaria.</a:t>
            </a:r>
            <a:endParaRPr lang="en-US" sz="1600" dirty="0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2A377A94-5202-A8FC-279F-4A9E7ADD8423}"/>
              </a:ext>
            </a:extLst>
          </p:cNvPr>
          <p:cNvSpPr/>
          <p:nvPr/>
        </p:nvSpPr>
        <p:spPr>
          <a:xfrm>
            <a:off x="8431152" y="4701937"/>
            <a:ext cx="3466052" cy="3239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A2A2A"/>
                </a:solidFill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ueno_assets/ppt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38" y="274320"/>
            <a:ext cx="1148684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</a:rPr>
              <a:t>¿Cómo impacta mi trabajo en el Sueño?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77240" y="1234440"/>
            <a:ext cx="2240280" cy="603504"/>
          </a:xfrm>
          <a:prstGeom prst="rect">
            <a:avLst/>
          </a:prstGeom>
          <a:solidFill>
            <a:srgbClr val="B100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777238" y="124358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Reparto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37560" y="1197951"/>
            <a:ext cx="8854134" cy="56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A2A2A"/>
                </a:solidFill>
              </a:rPr>
              <a:t>Entrega segura, validación de carga, cumplimiento de Ventana </a:t>
            </a:r>
            <a:r>
              <a:rPr lang="en-US" sz="1550" dirty="0" err="1">
                <a:solidFill>
                  <a:srgbClr val="2A2A2A"/>
                </a:solidFill>
              </a:rPr>
              <a:t>horaria</a:t>
            </a:r>
            <a:r>
              <a:rPr lang="en-US" sz="1550" dirty="0">
                <a:solidFill>
                  <a:srgbClr val="2A2A2A"/>
                </a:solidFill>
              </a:rPr>
              <a:t> del </a:t>
            </a:r>
            <a:r>
              <a:rPr lang="en-US" sz="1550" dirty="0" err="1">
                <a:solidFill>
                  <a:srgbClr val="2A2A2A"/>
                </a:solidFill>
              </a:rPr>
              <a:t>cliente</a:t>
            </a:r>
            <a:r>
              <a:rPr lang="en-US" sz="1550" dirty="0">
                <a:solidFill>
                  <a:srgbClr val="2A2A2A"/>
                </a:solidFill>
              </a:rPr>
              <a:t> y buena atención al cliente.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77241" y="2133445"/>
            <a:ext cx="2240280" cy="603504"/>
          </a:xfrm>
          <a:prstGeom prst="rect">
            <a:avLst/>
          </a:prstGeom>
          <a:solidFill>
            <a:srgbClr val="FFB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11" name="Text 8"/>
          <p:cNvSpPr/>
          <p:nvPr/>
        </p:nvSpPr>
        <p:spPr>
          <a:xfrm>
            <a:off x="777241" y="2116992"/>
            <a:ext cx="2240279" cy="690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endParaRPr lang="en-US" sz="1400" b="1" dirty="0">
              <a:solidFill>
                <a:srgbClr val="2A2A2A"/>
              </a:solidFill>
            </a:endParaRPr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2A2A2A"/>
                </a:solidFill>
              </a:rPr>
              <a:t>Almacén</a:t>
            </a:r>
            <a:br>
              <a:rPr lang="en-US" sz="1400" b="1" dirty="0">
                <a:solidFill>
                  <a:srgbClr val="2A2A2A"/>
                </a:solidFill>
              </a:rPr>
            </a:b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37560" y="2176579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A2A2A"/>
                </a:solidFill>
              </a:rPr>
              <a:t>Preparación correcta, orden, FEFO, control de roturas y carga sin errores.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77240" y="3107281"/>
            <a:ext cx="2240280" cy="603504"/>
          </a:xfrm>
          <a:prstGeom prst="rect">
            <a:avLst/>
          </a:prstGeom>
          <a:solidFill>
            <a:srgbClr val="B100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777241" y="3075434"/>
            <a:ext cx="2240278" cy="719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Flota</a:t>
            </a:r>
            <a:br>
              <a:rPr lang="en-US" sz="1400" b="1" dirty="0">
                <a:solidFill>
                  <a:srgbClr val="FFFFFF"/>
                </a:solidFill>
              </a:rPr>
            </a:b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64407" y="3156097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A2A2A"/>
                </a:solidFill>
              </a:rPr>
              <a:t>Unidades disponibles, mantenimiento, documentación y condiciones seguras.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77241" y="3989833"/>
            <a:ext cx="2240280" cy="603504"/>
          </a:xfrm>
          <a:prstGeom prst="rect">
            <a:avLst/>
          </a:prstGeom>
          <a:solidFill>
            <a:srgbClr val="FFB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4"/>
          <p:cNvSpPr/>
          <p:nvPr/>
        </p:nvSpPr>
        <p:spPr>
          <a:xfrm>
            <a:off x="777241" y="3929069"/>
            <a:ext cx="2240279" cy="7526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A2A"/>
                </a:solidFill>
              </a:rPr>
              <a:t>Administración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46120" y="4036921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A2A2A"/>
                </a:solidFill>
              </a:rPr>
              <a:t>Facturación, controles, datos correctos y soporte a la operación.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777240" y="4950969"/>
            <a:ext cx="2240280" cy="603504"/>
          </a:xfrm>
          <a:prstGeom prst="rect">
            <a:avLst/>
          </a:prstGeom>
          <a:solidFill>
            <a:srgbClr val="B100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7"/>
          <p:cNvSpPr/>
          <p:nvPr/>
        </p:nvSpPr>
        <p:spPr>
          <a:xfrm>
            <a:off x="777241" y="4950969"/>
            <a:ext cx="22402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Supervisión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264407" y="4977229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A2A2A"/>
                </a:solidFill>
              </a:rPr>
              <a:t>Rutinas, seguimiento de indicadores, tratamiento de anomalías y entrenamiento.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3090672" y="1536192"/>
            <a:ext cx="0" cy="379476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1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9</a:t>
            </a:r>
            <a:endParaRPr lang="en-US" sz="85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5DDF7C8D-C5C6-2930-BF9B-835036F04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520" y="6168197"/>
            <a:ext cx="1822134" cy="35344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EF0863F1-F51A-89E3-BC78-3AF063617863}"/>
              </a:ext>
            </a:extLst>
          </p:cNvPr>
          <p:cNvSpPr txBox="1"/>
          <p:nvPr/>
        </p:nvSpPr>
        <p:spPr>
          <a:xfrm>
            <a:off x="3246120" y="1670292"/>
            <a:ext cx="75925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u="sng" dirty="0"/>
              <a:t>Tarea critica</a:t>
            </a:r>
            <a:r>
              <a:rPr lang="es-AR" sz="1200" dirty="0"/>
              <a:t>: Control de Calidad cuando se entrega en un punto de venta.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9528E47-9221-3ABC-70F8-117ADA588C16}"/>
              </a:ext>
            </a:extLst>
          </p:cNvPr>
          <p:cNvSpPr txBox="1"/>
          <p:nvPr/>
        </p:nvSpPr>
        <p:spPr>
          <a:xfrm>
            <a:off x="3264407" y="2366593"/>
            <a:ext cx="6101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b="0" i="0" u="sng" dirty="0">
                <a:solidFill>
                  <a:schemeClr val="tx1"/>
                </a:solidFill>
                <a:effectLst/>
                <a:latin typeface="+mn-lt"/>
              </a:rPr>
              <a:t>Tarea critica</a:t>
            </a:r>
            <a:r>
              <a:rPr lang="es-AR" sz="1200" b="0" i="0" dirty="0">
                <a:solidFill>
                  <a:schemeClr val="tx1"/>
                </a:solidFill>
                <a:effectLst/>
                <a:latin typeface="+mn-lt"/>
              </a:rPr>
              <a:t>: Recolectar producto de la cancha de </a:t>
            </a:r>
            <a:r>
              <a:rPr lang="es-AR" sz="1200" b="0" i="0" dirty="0" err="1">
                <a:solidFill>
                  <a:schemeClr val="tx1"/>
                </a:solidFill>
                <a:effectLst/>
                <a:latin typeface="+mn-lt"/>
              </a:rPr>
              <a:t>picking</a:t>
            </a:r>
            <a:r>
              <a:rPr lang="es-AR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s-AR" sz="12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CD466A2-889C-974F-AFB2-CCB43358FF09}"/>
              </a:ext>
            </a:extLst>
          </p:cNvPr>
          <p:cNvSpPr txBox="1"/>
          <p:nvPr/>
        </p:nvSpPr>
        <p:spPr>
          <a:xfrm>
            <a:off x="2075182" y="5772757"/>
            <a:ext cx="7828276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dirty="0"/>
              <a:t>La correcta ejecución de las tareas críticas es fundamental para garantizar la seguridad, la calidad y el cumplimiento de los procedimientos establecidos.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ueno_assets/ppt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38" y="274320"/>
            <a:ext cx="1148684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</a:rPr>
              <a:t>Comportamientos esperados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666240" y="1307592"/>
            <a:ext cx="9306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2A2A2A"/>
                </a:solidFill>
              </a:rPr>
              <a:t>Para sostener el Sueño, necesitamos comportamientos diarios consistentes:</a:t>
            </a:r>
            <a:endParaRPr lang="en-US" sz="2050" dirty="0"/>
          </a:p>
        </p:txBody>
      </p:sp>
      <p:sp>
        <p:nvSpPr>
          <p:cNvPr id="9" name="Shape 5"/>
          <p:cNvSpPr/>
          <p:nvPr/>
        </p:nvSpPr>
        <p:spPr>
          <a:xfrm>
            <a:off x="3530600" y="2318004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2000"/>
          </a:p>
        </p:txBody>
      </p:sp>
      <p:sp>
        <p:nvSpPr>
          <p:cNvPr id="10" name="Text 6"/>
          <p:cNvSpPr/>
          <p:nvPr/>
        </p:nvSpPr>
        <p:spPr>
          <a:xfrm>
            <a:off x="3786632" y="2244852"/>
            <a:ext cx="668040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</a:rPr>
              <a:t>Conocer el indicador que corresponde a mi tarea.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530600" y="2884932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2000"/>
          </a:p>
        </p:txBody>
      </p:sp>
      <p:sp>
        <p:nvSpPr>
          <p:cNvPr id="12" name="Text 8"/>
          <p:cNvSpPr/>
          <p:nvPr/>
        </p:nvSpPr>
        <p:spPr>
          <a:xfrm>
            <a:off x="3786632" y="2811780"/>
            <a:ext cx="65460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</a:rPr>
              <a:t>Ejecutar el SOP sin saltear pasos </a:t>
            </a:r>
            <a:r>
              <a:rPr lang="en-US" sz="2000" dirty="0" err="1">
                <a:solidFill>
                  <a:srgbClr val="2A2A2A"/>
                </a:solidFill>
              </a:rPr>
              <a:t>críticos</a:t>
            </a:r>
            <a:r>
              <a:rPr lang="en-US" sz="2000" dirty="0">
                <a:solidFill>
                  <a:srgbClr val="2A2A2A"/>
                </a:solidFill>
              </a:rPr>
              <a:t>.</a:t>
            </a:r>
            <a:br>
              <a:rPr lang="en-US" sz="2000" dirty="0">
                <a:solidFill>
                  <a:srgbClr val="2A2A2A"/>
                </a:solidFill>
              </a:rPr>
            </a:br>
            <a:r>
              <a:rPr lang="en-US" sz="2000" dirty="0" err="1">
                <a:solidFill>
                  <a:srgbClr val="2A2A2A"/>
                </a:solidFill>
              </a:rPr>
              <a:t>Excelente</a:t>
            </a:r>
            <a:r>
              <a:rPr lang="en-US" sz="2000" dirty="0">
                <a:solidFill>
                  <a:srgbClr val="2A2A2A"/>
                </a:solidFill>
              </a:rPr>
              <a:t> </a:t>
            </a:r>
            <a:r>
              <a:rPr lang="en-US" sz="2000" dirty="0" err="1">
                <a:solidFill>
                  <a:srgbClr val="2A2A2A"/>
                </a:solidFill>
              </a:rPr>
              <a:t>ejecucion</a:t>
            </a:r>
            <a:r>
              <a:rPr lang="en-US" sz="2000" dirty="0">
                <a:solidFill>
                  <a:srgbClr val="2A2A2A"/>
                </a:solidFill>
              </a:rPr>
              <a:t> de la </a:t>
            </a:r>
            <a:r>
              <a:rPr lang="en-US" sz="2000" dirty="0" err="1">
                <a:solidFill>
                  <a:srgbClr val="2A2A2A"/>
                </a:solidFill>
              </a:rPr>
              <a:t>tarea</a:t>
            </a:r>
            <a:r>
              <a:rPr lang="en-US" sz="2000" dirty="0">
                <a:solidFill>
                  <a:srgbClr val="2A2A2A"/>
                </a:solidFill>
              </a:rPr>
              <a:t> </a:t>
            </a:r>
            <a:r>
              <a:rPr lang="en-US" sz="2000" dirty="0" err="1">
                <a:solidFill>
                  <a:srgbClr val="2A2A2A"/>
                </a:solidFill>
              </a:rPr>
              <a:t>criticas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530600" y="3451860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2000"/>
          </a:p>
        </p:txBody>
      </p:sp>
      <p:sp>
        <p:nvSpPr>
          <p:cNvPr id="14" name="Text 10"/>
          <p:cNvSpPr/>
          <p:nvPr/>
        </p:nvSpPr>
        <p:spPr>
          <a:xfrm>
            <a:off x="3786632" y="3378708"/>
            <a:ext cx="63632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</a:rPr>
              <a:t>Informar desvíos y condiciones inseguras.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530600" y="4018788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2000"/>
          </a:p>
        </p:txBody>
      </p:sp>
      <p:sp>
        <p:nvSpPr>
          <p:cNvPr id="16" name="Text 12"/>
          <p:cNvSpPr/>
          <p:nvPr/>
        </p:nvSpPr>
        <p:spPr>
          <a:xfrm>
            <a:off x="3786632" y="3945636"/>
            <a:ext cx="636320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</a:rPr>
              <a:t>Cuidar los recursos de la empresa.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530600" y="4585716"/>
            <a:ext cx="118872" cy="118872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 sz="2000"/>
          </a:p>
        </p:txBody>
      </p:sp>
      <p:sp>
        <p:nvSpPr>
          <p:cNvPr id="18" name="Text 14"/>
          <p:cNvSpPr/>
          <p:nvPr/>
        </p:nvSpPr>
        <p:spPr>
          <a:xfrm>
            <a:off x="3786632" y="4512564"/>
            <a:ext cx="636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</a:rPr>
              <a:t>Participar en rutinas, tableros y planes de acción.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1666240" y="5349240"/>
            <a:ext cx="9306560" cy="438912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6"/>
          <p:cNvSpPr/>
          <p:nvPr/>
        </p:nvSpPr>
        <p:spPr>
          <a:xfrm>
            <a:off x="1859280" y="5289804"/>
            <a:ext cx="888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A2A"/>
                </a:solidFill>
              </a:rPr>
              <a:t>Disciplina en la rutina = avance real hacia el Sueño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18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10</a:t>
            </a:r>
            <a:endParaRPr lang="en-US" sz="85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6C41D75-FA45-6CE5-CDA4-1BA97E14F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520" y="6168197"/>
            <a:ext cx="1822134" cy="3534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10020"/>
          </a:solidFill>
          <a:ln w="12700">
            <a:solidFill>
              <a:srgbClr val="B10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ueno_assets/ppt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38" y="274320"/>
            <a:ext cx="1148684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92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Capacitación DPO · Pilar Gestión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59436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</a:rPr>
              <a:t>Dónde se gestiona el Sueño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77240" y="1143000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2A2A"/>
                </a:solidFill>
              </a:rPr>
              <a:t>El Sueño debe ser visible y gestionado con rutinas. Los indicadores que llegan a nivel tarea se siguen en el tablero.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2240280"/>
            <a:ext cx="2240280" cy="2331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822960" y="2240280"/>
            <a:ext cx="2240280" cy="164592"/>
          </a:xfrm>
          <a:prstGeom prst="rect">
            <a:avLst/>
          </a:prstGeom>
          <a:solidFill>
            <a:srgbClr val="B100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987552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10020"/>
                </a:solidFill>
              </a:rPr>
              <a:t>Team Room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1560" y="33101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</a:rPr>
              <a:t>Comunicación del Sueño y resultados generales</a:t>
            </a:r>
            <a:r>
              <a:rPr lang="en-US" sz="1250" dirty="0">
                <a:solidFill>
                  <a:srgbClr val="2A2A2A"/>
                </a:solidFill>
              </a:rPr>
              <a:t>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611880" y="2240280"/>
            <a:ext cx="2240280" cy="2331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0"/>
          <p:cNvSpPr/>
          <p:nvPr/>
        </p:nvSpPr>
        <p:spPr>
          <a:xfrm>
            <a:off x="3611880" y="2240280"/>
            <a:ext cx="2240280" cy="164592"/>
          </a:xfrm>
          <a:prstGeom prst="rect">
            <a:avLst/>
          </a:prstGeom>
          <a:solidFill>
            <a:srgbClr val="FFB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3776472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10020"/>
                </a:solidFill>
              </a:rPr>
              <a:t>Tablero de Gestión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840480" y="33101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</a:rPr>
              <a:t>Seguimiento de KPIs y PIs con tendencia</a:t>
            </a:r>
            <a:r>
              <a:rPr lang="en-US" sz="1250" dirty="0">
                <a:solidFill>
                  <a:srgbClr val="2A2A2A"/>
                </a:solidFill>
              </a:rPr>
              <a:t>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0" y="2240280"/>
            <a:ext cx="2240280" cy="2331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4"/>
          <p:cNvSpPr/>
          <p:nvPr/>
        </p:nvSpPr>
        <p:spPr>
          <a:xfrm>
            <a:off x="6400800" y="2240280"/>
            <a:ext cx="2240280" cy="164592"/>
          </a:xfrm>
          <a:prstGeom prst="rect">
            <a:avLst/>
          </a:prstGeom>
          <a:solidFill>
            <a:srgbClr val="B100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5"/>
          <p:cNvSpPr/>
          <p:nvPr/>
        </p:nvSpPr>
        <p:spPr>
          <a:xfrm>
            <a:off x="6565392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10020"/>
                </a:solidFill>
              </a:rPr>
              <a:t>Reunión de Rutina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629400" y="33101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</a:rPr>
              <a:t>Revisión, anormalidades y acciones.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89720" y="2240280"/>
            <a:ext cx="2240280" cy="2331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8"/>
          <p:cNvSpPr/>
          <p:nvPr/>
        </p:nvSpPr>
        <p:spPr>
          <a:xfrm>
            <a:off x="9189720" y="2240280"/>
            <a:ext cx="2240280" cy="164592"/>
          </a:xfrm>
          <a:prstGeom prst="rect">
            <a:avLst/>
          </a:prstGeom>
          <a:solidFill>
            <a:srgbClr val="FFB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19"/>
          <p:cNvSpPr/>
          <p:nvPr/>
        </p:nvSpPr>
        <p:spPr>
          <a:xfrm>
            <a:off x="9354312" y="2697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10020"/>
                </a:solidFill>
              </a:rPr>
              <a:t>Puesto de Trabajo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418320" y="33101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</a:rPr>
              <a:t>Indicador conectado a la tarea diaria.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05840" y="539496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10020"/>
                </a:solidFill>
              </a:rPr>
              <a:t>Lo importante no es solo mirar el número: es decidir qué acción tomamos para mejorar.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3"/>
          <p:cNvSpPr/>
          <p:nvPr/>
        </p:nvSpPr>
        <p:spPr>
          <a:xfrm>
            <a:off x="502920" y="6647688"/>
            <a:ext cx="5486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</a:rPr>
              <a:t>Del Palacio S.A. · Sueño de la Empresa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384280" y="6647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A2A2A"/>
                </a:solidFill>
              </a:rPr>
              <a:t>11</a:t>
            </a:r>
            <a:endParaRPr lang="en-US" sz="8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88341E9-6A2A-62ED-D816-987139F93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520" y="6168197"/>
            <a:ext cx="1822134" cy="3534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ueno_assets/ppt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1155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100"/>
                </a:solidFill>
              </a:rPr>
              <a:t>Nuestro compromiso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77240" y="16002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Cada tarea bien hecha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acerca a del Palacio al </a:t>
            </a:r>
            <a:r>
              <a:rPr lang="en-US" sz="3500" b="1" dirty="0" err="1">
                <a:solidFill>
                  <a:srgbClr val="FFFFFF"/>
                </a:solidFill>
              </a:rPr>
              <a:t>cumplimiento</a:t>
            </a:r>
            <a:r>
              <a:rPr lang="en-US" sz="3500" b="1" dirty="0">
                <a:solidFill>
                  <a:srgbClr val="FFFFFF"/>
                </a:solidFill>
              </a:rPr>
              <a:t> del </a:t>
            </a:r>
            <a:r>
              <a:rPr lang="en-US" sz="3500" b="1" dirty="0" err="1">
                <a:solidFill>
                  <a:srgbClr val="FFFFFF"/>
                </a:solidFill>
              </a:rPr>
              <a:t>sueño</a:t>
            </a:r>
            <a:r>
              <a:rPr lang="en-US" sz="3500" b="1" dirty="0">
                <a:solidFill>
                  <a:srgbClr val="FFFFFF"/>
                </a:solidFill>
              </a:rPr>
              <a:t>.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22960" y="39502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4F4F4"/>
                </a:solidFill>
              </a:rPr>
              <a:t>Servicio · Eficiencia · Gente · Clientes · Seguridad · Medio ambiente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" y="46177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FD100"/>
          </a:solidFill>
          <a:ln w="12700">
            <a:solidFill>
              <a:srgbClr val="FFD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896112" y="4718304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A2A"/>
                </a:solidFill>
              </a:rPr>
              <a:t>GRACIAS</a:t>
            </a:r>
            <a:endParaRPr lang="en-US" sz="1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08182C-7C2F-10A0-D457-7B75FD66E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520" y="6432357"/>
            <a:ext cx="1822134" cy="353446"/>
          </a:xfrm>
          <a:prstGeom prst="rect">
            <a:avLst/>
          </a:prstGeom>
        </p:spPr>
      </p:pic>
      <p:pic>
        <p:nvPicPr>
          <p:cNvPr id="11" name="Image 0" descr="/mnt/data/sueno_assets/ppt/ppt/media/image5.png">
            <a:extLst>
              <a:ext uri="{FF2B5EF4-FFF2-40B4-BE49-F238E27FC236}">
                <a16:creationId xmlns:a16="http://schemas.microsoft.com/office/drawing/2014/main" id="{72EC0A3E-9C00-E804-254E-B7E177BC9DB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955970" y="72197"/>
            <a:ext cx="1148684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1166</Words>
  <Application>Microsoft Office PowerPoint</Application>
  <PresentationFormat>Panorámica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Manrope (Corpo)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Del Palacio 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- Sueño de la Empresa - Del Palacio SA</dc:title>
  <dc:subject>Capacitación Sueño de la Empresa</dc:subject>
  <dc:creator>OpenAI</dc:creator>
  <cp:lastModifiedBy>Logistica Del Palacio</cp:lastModifiedBy>
  <cp:revision>7</cp:revision>
  <dcterms:created xsi:type="dcterms:W3CDTF">2026-09-03T18:53:15Z</dcterms:created>
  <dcterms:modified xsi:type="dcterms:W3CDTF">2026-09-09T12:47:33Z</dcterms:modified>
</cp:coreProperties>
</file>