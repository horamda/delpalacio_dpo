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1" r:id="rId4"/>
    <p:sldId id="260" r:id="rId5"/>
    <p:sldId id="273" r:id="rId6"/>
    <p:sldId id="263" r:id="rId7"/>
    <p:sldId id="262" r:id="rId8"/>
    <p:sldId id="268" r:id="rId9"/>
    <p:sldId id="265" r:id="rId10"/>
    <p:sldId id="266" r:id="rId11"/>
    <p:sldId id="272" r:id="rId12"/>
    <p:sldId id="270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C3A17-83AF-085D-09CD-B929BE918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AA8E8F-826C-B3C9-EB57-102ECAA21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D099E7-2E11-1A2C-DBC0-8A0422D6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8DD4C5-A164-B18A-94A7-292F40D8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ED36-9D87-69A3-5220-21A30F1E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941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E6ADC-93B5-F0FC-6D81-FC778AE3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D6B58A-5D83-8728-5925-9C2819FBD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5B7A7-81D1-09EE-D608-28791C02F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635D6C-35F5-6512-6BDB-3B8D5273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2F62C-AAA1-8D85-DEEE-7E3E18DB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106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49AAA-1B2D-1A2D-7123-531FC0C0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DD46F3-E123-76CF-2CE5-A67AE8423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33E572-2C94-82C1-B995-B928BF5B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7733C4-3E71-0705-6379-DD313270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FF441F-7423-AC8C-66EE-5EAAB51D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61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AC8F8-C5E8-7B72-D474-AE11319E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AD2F6A-3C16-761D-6D24-E3A4EBE02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FC33FB-33CE-5D04-97EA-8B63D5043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BC62F5-4109-DD70-DC94-682EA2DD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BE9923-B394-0E6B-B663-8933CC1C4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16ECEE-3017-97CB-EA43-88B4957D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584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E7C48-8802-F675-9056-A24599AB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A2867E-139F-6A9C-C2D6-18D297171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1F067A-7954-0715-7A4B-FAAE72FFE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C6D01F-9687-AD42-81AE-A87423CD6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3C888D-6A35-F5BA-26E9-9E631E936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6A3D2-9BE4-79E6-9FF4-4ECE226A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3BF762-654D-6F73-4820-04192467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8368D1-7CC9-BF7F-3821-31230EC0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9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26BEE-D332-0A0A-57A8-4210EB5C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C3967B-12D4-9C53-4089-1FDCC6D6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A8CD3B-9BFB-6B7C-84BD-9F6FBC3E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491B8F-AD02-1F57-E80C-76F052CE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114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B8BECC-E38D-175A-EDAE-66305ED8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687E9D-0807-B2BA-5C30-0ECBF006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FB3C9A-3E03-4A46-2D28-0788A14E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528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9A52C-AF4B-5B19-DD04-0C4F757A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826085-7F0E-B83F-75D6-59DEB1C11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F039CF-63F2-A736-4111-1189E811E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28F2A6-78F0-7F79-45DA-16B0666D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5D283D-07B4-0C37-5720-8C830BC6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F37D0C-2FD4-524E-D63F-3F937EA4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7943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A2F9F-AEEC-92D9-DF1A-B52615E6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17959C-18FE-4F24-CE07-CC66BEFB1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066F1C-0FB8-18B7-44FA-89C00D1BD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79AA5C-5617-F7C4-4BB6-76B6D396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C378F7-B4E9-F324-081A-FFD59B57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088277-A150-8775-FB44-04E7357C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7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9E867-6421-7156-96AE-75B12BAE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C5FEF6-389D-6E2F-6E51-1346F8565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9A6A6-801E-5FB1-F366-B89CCFBD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69BC24-8678-9552-AD43-163383EC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F7BA2A-1A71-0103-8A52-2ACDA98F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603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7C07A0-58A6-6E3A-F90B-AD7E3F956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2950EA-DB8F-31E4-0FD6-CBC3BA021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B5677-144D-FDB7-02F3-D3295754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10B0B-725D-CC58-F771-0DC2D6D7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FC21AB-4707-6A55-649C-F32ACE64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6027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D97B4D-E0D7-8856-4BAC-247DDA87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D6E807-07B7-22B1-4058-855630AF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E8DFD9-D304-CC1A-138A-AADB908B4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143E4-AA27-4FAB-B5B3-A3C89A3A2011}" type="datetimeFigureOut">
              <a:rPr lang="es-AR" smtClean="0"/>
              <a:t>28/8/2026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4BB895-312D-6172-E2BA-1387393D2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83EF78-FCC1-7313-B261-EE9C4B7DE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7EEB-F149-4BC8-B71B-83D3EDE508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47493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BF7BB-E23A-CB85-9464-97A4784D3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3686" y="1203439"/>
            <a:ext cx="10434028" cy="37386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s-AR" dirty="0">
                <a:latin typeface="Abadi ExtraLight" panose="020B0204020104020204" pitchFamily="34" charset="0"/>
              </a:rPr>
              <a:t>CAPACITACIÓN: </a:t>
            </a:r>
            <a:br>
              <a:rPr lang="es-AR" dirty="0">
                <a:latin typeface="Abadi ExtraLight" panose="020B0204020104020204" pitchFamily="34" charset="0"/>
              </a:rPr>
            </a:br>
            <a:r>
              <a:rPr lang="es-AR" dirty="0">
                <a:latin typeface="Abadi ExtraLight" panose="020B0204020104020204" pitchFamily="34" charset="0"/>
              </a:rPr>
              <a:t>ABC  +  FEFO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CC49ED2-1103-0E95-C701-114795D1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6051323"/>
            <a:ext cx="3048000" cy="601109"/>
          </a:xfrm>
          <a:prstGeom prst="rect">
            <a:avLst/>
          </a:prstGeom>
        </p:spPr>
      </p:pic>
      <p:pic>
        <p:nvPicPr>
          <p:cNvPr id="15" name="Imagen 14" descr="Nombre de la empresa&#10;&#10;Descripción generada automáticamente">
            <a:extLst>
              <a:ext uri="{FF2B5EF4-FFF2-40B4-BE49-F238E27FC236}">
                <a16:creationId xmlns:a16="http://schemas.microsoft.com/office/drawing/2014/main" id="{30D22D37-3B39-46CE-9E69-D18FE138D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505" y="87022"/>
            <a:ext cx="1892938" cy="719655"/>
          </a:xfrm>
          <a:prstGeom prst="rect">
            <a:avLst/>
          </a:prstGeom>
          <a:noFill/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428C1C74-ED7E-DB4D-F4F4-548D20B34D27}"/>
              </a:ext>
            </a:extLst>
          </p:cNvPr>
          <p:cNvSpPr txBox="1"/>
          <p:nvPr/>
        </p:nvSpPr>
        <p:spPr>
          <a:xfrm>
            <a:off x="8599714" y="635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Distribuidora del Palacio S.A</a:t>
            </a:r>
          </a:p>
        </p:txBody>
      </p:sp>
    </p:spTree>
    <p:extLst>
      <p:ext uri="{BB962C8B-B14F-4D97-AF65-F5344CB8AC3E}">
        <p14:creationId xmlns:p14="http://schemas.microsoft.com/office/powerpoint/2010/main" val="161784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924E5-0D89-2BE1-D662-4F28053CD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AE5C993-7088-B5D8-E0CB-DA1B3C05F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2EBE315-EA55-79FC-EB3A-C7B3E30C2D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F8E50CD7-6CF4-415E-DDA3-15E3FA03B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8075D976-911C-6520-753F-E8B58C59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9" y="1107850"/>
            <a:ext cx="4659084" cy="4422094"/>
          </a:xfrm>
          <a:solidFill>
            <a:schemeClr val="bg2"/>
          </a:solidFill>
        </p:spPr>
        <p:txBody>
          <a:bodyPr/>
          <a:lstStyle/>
          <a:p>
            <a:r>
              <a:rPr lang="es-AR" b="1" dirty="0"/>
              <a:t>ABC:</a:t>
            </a:r>
            <a:br>
              <a:rPr lang="es-AR" b="1" dirty="0"/>
            </a:br>
            <a:r>
              <a:rPr lang="es-AR" sz="2400" b="1" dirty="0"/>
              <a:t>Define dónde conviene ubicar.</a:t>
            </a:r>
            <a:br>
              <a:rPr lang="es-AR" sz="2400" b="1" dirty="0"/>
            </a:br>
            <a:br>
              <a:rPr lang="es-AR" dirty="0"/>
            </a:br>
            <a:r>
              <a:rPr lang="es-AR" b="1" dirty="0"/>
              <a:t>FEFO:</a:t>
            </a:r>
            <a:br>
              <a:rPr lang="es-AR" b="1" dirty="0"/>
            </a:br>
            <a:r>
              <a:rPr lang="es-AR" sz="2400" b="1" dirty="0"/>
              <a:t>Define qué producto debe salir primero.</a:t>
            </a:r>
            <a:endParaRPr lang="es-AR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AC7086-5EBF-F02B-F270-DE9F6EE85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76257E9-31A2-4932-8836-97C3CA57B318}"/>
              </a:ext>
            </a:extLst>
          </p:cNvPr>
          <p:cNvSpPr txBox="1"/>
          <p:nvPr/>
        </p:nvSpPr>
        <p:spPr>
          <a:xfrm>
            <a:off x="5983515" y="1296328"/>
            <a:ext cx="51823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AR" sz="2400" dirty="0">
                <a:solidFill>
                  <a:srgbClr val="FF0000"/>
                </a:solidFill>
              </a:rPr>
            </a:br>
            <a:r>
              <a:rPr lang="es-AR" sz="2400" dirty="0">
                <a:solidFill>
                  <a:schemeClr val="bg2"/>
                </a:solidFill>
              </a:rPr>
              <a:t>Recibir, almacenar, rotar y controlar correctamente los productos para: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bg2"/>
                </a:solidFill>
              </a:rPr>
              <a:t>Mantener la frescura.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bg2"/>
                </a:solidFill>
              </a:rPr>
              <a:t>Reducir pérdidas por vencimiento.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bg2"/>
                </a:solidFill>
              </a:rPr>
              <a:t>Mejorar la productividad del almacén.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bg2"/>
                </a:solidFill>
              </a:rPr>
              <a:t>Mantener la trazabilidad.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bg2"/>
                </a:solidFill>
              </a:rPr>
              <a:t>Garantizar que salga primero el producto correcto.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8B892A-0FAE-DA1D-23A3-EA02B0B298D3}"/>
              </a:ext>
            </a:extLst>
          </p:cNvPr>
          <p:cNvSpPr txBox="1"/>
          <p:nvPr/>
        </p:nvSpPr>
        <p:spPr>
          <a:xfrm>
            <a:off x="1656080" y="109055"/>
            <a:ext cx="2504254" cy="769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AR" sz="4400" b="1" dirty="0"/>
              <a:t>Objetivo:</a:t>
            </a:r>
            <a:endParaRPr lang="es-AR" sz="4400" dirty="0"/>
          </a:p>
        </p:txBody>
      </p:sp>
    </p:spTree>
    <p:extLst>
      <p:ext uri="{BB962C8B-B14F-4D97-AF65-F5344CB8AC3E}">
        <p14:creationId xmlns:p14="http://schemas.microsoft.com/office/powerpoint/2010/main" val="1715016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72A3-5041-E915-AB53-EBF9E2C32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726529A0-CB00-68A1-54B4-794C9BEE8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6051323"/>
            <a:ext cx="3048000" cy="601109"/>
          </a:xfrm>
          <a:prstGeom prst="rect">
            <a:avLst/>
          </a:prstGeom>
        </p:spPr>
      </p:pic>
      <p:pic>
        <p:nvPicPr>
          <p:cNvPr id="15" name="Imagen 14" descr="Nombre de la empresa&#10;&#10;Descripción generada automáticamente">
            <a:extLst>
              <a:ext uri="{FF2B5EF4-FFF2-40B4-BE49-F238E27FC236}">
                <a16:creationId xmlns:a16="http://schemas.microsoft.com/office/drawing/2014/main" id="{C904E0D3-978A-09EE-404C-5EA556C5B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505" y="87022"/>
            <a:ext cx="1892938" cy="719655"/>
          </a:xfrm>
          <a:prstGeom prst="rect">
            <a:avLst/>
          </a:prstGeom>
          <a:noFill/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46C8E3E1-7882-89EA-ECF7-DAD3E1EF3F96}"/>
              </a:ext>
            </a:extLst>
          </p:cNvPr>
          <p:cNvSpPr txBox="1"/>
          <p:nvPr/>
        </p:nvSpPr>
        <p:spPr>
          <a:xfrm>
            <a:off x="8599714" y="63518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Distribuidora del Palacio S.A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141CCC-5894-2F07-7F72-68B48226231A}"/>
              </a:ext>
            </a:extLst>
          </p:cNvPr>
          <p:cNvSpPr txBox="1"/>
          <p:nvPr/>
        </p:nvSpPr>
        <p:spPr>
          <a:xfrm>
            <a:off x="726295" y="3389999"/>
            <a:ext cx="5500333" cy="984885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AR" sz="4000" b="1" dirty="0">
                <a:latin typeface="Abadi ExtraLight" panose="020B0204020104020204" pitchFamily="34" charset="0"/>
              </a:rPr>
              <a:t>Verificar EPP</a:t>
            </a:r>
            <a:br>
              <a:rPr lang="es-AR" sz="2000" b="1" dirty="0"/>
            </a:b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2C4B43-A52A-54DC-7008-FC5146E51AD7}"/>
              </a:ext>
            </a:extLst>
          </p:cNvPr>
          <p:cNvSpPr txBox="1"/>
          <p:nvPr/>
        </p:nvSpPr>
        <p:spPr>
          <a:xfrm>
            <a:off x="1445078" y="4853495"/>
            <a:ext cx="9563099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AR" sz="2400" dirty="0"/>
              <a:t>Ninguna tarea de recepción, almacenamiento o control comienza sin los EPP correspondientes.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91651EB-45F5-9EA3-C7F0-3AF6E7468428}"/>
              </a:ext>
            </a:extLst>
          </p:cNvPr>
          <p:cNvSpPr txBox="1">
            <a:spLocks/>
          </p:cNvSpPr>
          <p:nvPr/>
        </p:nvSpPr>
        <p:spPr>
          <a:xfrm>
            <a:off x="696685" y="576720"/>
            <a:ext cx="5529944" cy="25291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La seguridad es el primer paso.</a:t>
            </a:r>
            <a:br>
              <a:rPr lang="es-AR" sz="3600" b="1" dirty="0">
                <a:solidFill>
                  <a:schemeClr val="bg2"/>
                </a:solidFill>
                <a:latin typeface="Abadi ExtraLight" panose="020B0204020104020204" pitchFamily="34" charset="0"/>
              </a:rPr>
            </a:br>
            <a:r>
              <a:rPr lang="es-AR" sz="36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Antes de comenzar:</a:t>
            </a:r>
            <a:br>
              <a:rPr lang="es-AR" sz="3200" b="1" dirty="0">
                <a:latin typeface="Abadi ExtraLight" panose="020B0204020104020204" pitchFamily="34" charset="0"/>
              </a:rPr>
            </a:br>
            <a:endParaRPr lang="es-AR" sz="3200" dirty="0">
              <a:solidFill>
                <a:schemeClr val="bg2"/>
              </a:solidFill>
              <a:latin typeface="Abadi ExtraLight" panose="020B0204020104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4ADDA78-4DA1-6C98-5504-140C102F1E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922" y="1594167"/>
            <a:ext cx="4917757" cy="2322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079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FE72391-CA6E-A2FA-80C8-C402CADBA3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" y="-63089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89A2B8-2112-A697-EE26-D4D850A8C506}"/>
              </a:ext>
            </a:extLst>
          </p:cNvPr>
          <p:cNvSpPr txBox="1"/>
          <p:nvPr/>
        </p:nvSpPr>
        <p:spPr>
          <a:xfrm>
            <a:off x="6604065" y="1380747"/>
            <a:ext cx="43578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- Verificar el lote.</a:t>
            </a:r>
            <a:b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</a:br>
            <a:r>
              <a:rPr lang="es-AR" sz="28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- Verificar la fecha de vencimiento.</a:t>
            </a:r>
            <a:b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</a:br>
            <a: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  <a:t>- </a:t>
            </a:r>
            <a:r>
              <a:rPr lang="es-AR" sz="28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Comparar la información con la documentación.</a:t>
            </a:r>
            <a:b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</a:br>
            <a:r>
              <a:rPr lang="es-AR" sz="28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- Verificar el estado general del producto.</a:t>
            </a:r>
            <a:b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</a:br>
            <a: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  <a:t>- </a:t>
            </a:r>
            <a:r>
              <a:rPr lang="es-AR" sz="2800" b="1" dirty="0">
                <a:solidFill>
                  <a:schemeClr val="bg2"/>
                </a:solidFill>
                <a:latin typeface="Abadi ExtraLight" panose="020B0204020104020204" pitchFamily="34" charset="0"/>
              </a:rPr>
              <a:t>Detectar cualquier anomalía antes de almacenarlo</a:t>
            </a:r>
            <a:endParaRPr lang="es-AR" sz="2800" dirty="0">
              <a:solidFill>
                <a:schemeClr val="bg2"/>
              </a:solidFill>
              <a:latin typeface="Abadi ExtraLight" panose="020B0204020104020204" pitchFamily="34" charset="0"/>
            </a:endParaRPr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58173D15-750B-5D6C-B950-3D99083F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933677"/>
            <a:ext cx="3840294" cy="4990646"/>
          </a:xfrm>
          <a:solidFill>
            <a:schemeClr val="bg2"/>
          </a:solidFill>
        </p:spPr>
        <p:txBody>
          <a:bodyPr>
            <a:normAutofit/>
          </a:bodyPr>
          <a:lstStyle/>
          <a:p>
            <a:pPr algn="ctr"/>
            <a:r>
              <a:rPr lang="es-AR" sz="3600" dirty="0">
                <a:latin typeface="Abadi ExtraLight" panose="020B0204020104020204" pitchFamily="34" charset="0"/>
              </a:rPr>
              <a:t>Cuando ingresa mercadería debemos: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299FB751-C40C-96B5-6AC4-CD1150541F0B}"/>
              </a:ext>
            </a:extLst>
          </p:cNvPr>
          <p:cNvSpPr txBox="1"/>
          <p:nvPr/>
        </p:nvSpPr>
        <p:spPr>
          <a:xfrm>
            <a:off x="877827" y="143578"/>
            <a:ext cx="696569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s-AR" sz="3600" dirty="0">
                <a:latin typeface="Abadi ExtraLight" panose="020B0204020104020204" pitchFamily="34" charset="0"/>
              </a:rPr>
              <a:t>La frescura comienza en la recepción</a:t>
            </a:r>
          </a:p>
        </p:txBody>
      </p:sp>
      <p:pic>
        <p:nvPicPr>
          <p:cNvPr id="363" name="Imagen 362">
            <a:extLst>
              <a:ext uri="{FF2B5EF4-FFF2-40B4-BE49-F238E27FC236}">
                <a16:creationId xmlns:a16="http://schemas.microsoft.com/office/drawing/2014/main" id="{24920A74-0762-B818-468A-19650FB6C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52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8E8FD-6F77-9952-BDD3-08CD07F36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411"/>
            <a:ext cx="770262" cy="406055"/>
          </a:xfrm>
        </p:spPr>
        <p:txBody>
          <a:bodyPr>
            <a:normAutofit fontScale="90000"/>
          </a:bodyPr>
          <a:lstStyle/>
          <a:p>
            <a:r>
              <a:rPr lang="es-AR" dirty="0"/>
              <a:t>.</a:t>
            </a:r>
            <a:br>
              <a:rPr lang="es-AR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8AC7E-ACFD-8586-813D-5DB55D64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78" y="1323110"/>
            <a:ext cx="4471835" cy="4976090"/>
          </a:xfr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AR" dirty="0">
                <a:solidFill>
                  <a:schemeClr val="tx2"/>
                </a:solidFill>
              </a:rPr>
              <a:t>	</a:t>
            </a:r>
            <a:r>
              <a:rPr lang="es-AR" dirty="0">
                <a:solidFill>
                  <a:schemeClr val="tx2"/>
                </a:solidFill>
                <a:latin typeface="Abadi ExtraLight" panose="020B0204020104020204" pitchFamily="34" charset="0"/>
              </a:rPr>
              <a:t>La Curva ABC organiza los productos según su </a:t>
            </a:r>
            <a:r>
              <a:rPr lang="es-AR" b="1" dirty="0">
                <a:solidFill>
                  <a:schemeClr val="tx2"/>
                </a:solidFill>
                <a:latin typeface="Abadi ExtraLight" panose="020B0204020104020204" pitchFamily="34" charset="0"/>
              </a:rPr>
              <a:t>volumen y velocidad de movimiento</a:t>
            </a:r>
            <a:r>
              <a:rPr lang="es-AR" dirty="0">
                <a:solidFill>
                  <a:schemeClr val="tx2"/>
                </a:solidFill>
                <a:latin typeface="Abadi ExtraLight" panose="020B0204020104020204" pitchFamily="34" charset="0"/>
              </a:rPr>
              <a:t>.</a:t>
            </a:r>
          </a:p>
          <a:p>
            <a:pPr>
              <a:buNone/>
            </a:pPr>
            <a:endParaRPr lang="es-AR" dirty="0">
              <a:solidFill>
                <a:schemeClr val="tx2"/>
              </a:solidFill>
              <a:latin typeface="Abadi ExtraLight" panose="020B0204020104020204" pitchFamily="34" charset="0"/>
            </a:endParaRPr>
          </a:p>
          <a:p>
            <a:pPr>
              <a:buNone/>
            </a:pPr>
            <a:r>
              <a:rPr lang="es-AR" b="1" dirty="0">
                <a:solidFill>
                  <a:schemeClr val="tx2"/>
                </a:solidFill>
                <a:latin typeface="Abadi ExtraLight" panose="020B0204020104020204" pitchFamily="34" charset="0"/>
              </a:rPr>
              <a:t>A</a:t>
            </a:r>
          </a:p>
          <a:p>
            <a:pPr>
              <a:buNone/>
            </a:pPr>
            <a:r>
              <a:rPr lang="es-AR" dirty="0">
                <a:solidFill>
                  <a:schemeClr val="tx2"/>
                </a:solidFill>
                <a:latin typeface="Abadi ExtraLight" panose="020B0204020104020204" pitchFamily="34" charset="0"/>
              </a:rPr>
              <a:t>Movimiento rápido + gran volumen</a:t>
            </a:r>
          </a:p>
          <a:p>
            <a:pPr>
              <a:buNone/>
            </a:pPr>
            <a:r>
              <a:rPr lang="es-AR" b="1" dirty="0">
                <a:solidFill>
                  <a:schemeClr val="tx2"/>
                </a:solidFill>
                <a:latin typeface="Abadi ExtraLight" panose="020B0204020104020204" pitchFamily="34" charset="0"/>
              </a:rPr>
              <a:t>B</a:t>
            </a:r>
          </a:p>
          <a:p>
            <a:pPr>
              <a:buNone/>
            </a:pPr>
            <a:r>
              <a:rPr lang="es-AR" dirty="0">
                <a:solidFill>
                  <a:schemeClr val="tx2"/>
                </a:solidFill>
                <a:latin typeface="Abadi ExtraLight" panose="020B0204020104020204" pitchFamily="34" charset="0"/>
              </a:rPr>
              <a:t>Movimiento medio</a:t>
            </a:r>
          </a:p>
          <a:p>
            <a:pPr>
              <a:buNone/>
            </a:pPr>
            <a:r>
              <a:rPr lang="es-AR" b="1" dirty="0">
                <a:solidFill>
                  <a:schemeClr val="tx2"/>
                </a:solidFill>
                <a:latin typeface="Abadi ExtraLight" panose="020B0204020104020204" pitchFamily="34" charset="0"/>
              </a:rPr>
              <a:t>C</a:t>
            </a:r>
          </a:p>
          <a:p>
            <a:pPr>
              <a:buNone/>
            </a:pPr>
            <a:r>
              <a:rPr lang="es-AR" dirty="0">
                <a:solidFill>
                  <a:schemeClr val="tx2"/>
                </a:solidFill>
                <a:latin typeface="Abadi ExtraLight" panose="020B0204020104020204" pitchFamily="34" charset="0"/>
              </a:rPr>
              <a:t>Movimiento lento + bajo volumen</a:t>
            </a:r>
          </a:p>
          <a:p>
            <a:pPr marL="0" indent="0">
              <a:buNone/>
            </a:pPr>
            <a:endParaRPr lang="es-AR" dirty="0">
              <a:solidFill>
                <a:srgbClr val="EE00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8B5652-BF1F-8123-E0C8-9E9FD78C1789}"/>
              </a:ext>
            </a:extLst>
          </p:cNvPr>
          <p:cNvSpPr txBox="1"/>
          <p:nvPr/>
        </p:nvSpPr>
        <p:spPr>
          <a:xfrm>
            <a:off x="804478" y="197078"/>
            <a:ext cx="4471835" cy="5847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AR" sz="3200" b="1" dirty="0">
                <a:latin typeface="Abadi ExtraLight" panose="020B0204020104020204" pitchFamily="34" charset="0"/>
              </a:rPr>
              <a:t>¿Qué es la Curva ABC?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87AF101-09B4-0D55-DFF9-4006202DC3E1}"/>
              </a:ext>
            </a:extLst>
          </p:cNvPr>
          <p:cNvSpPr txBox="1">
            <a:spLocks/>
          </p:cNvSpPr>
          <p:nvPr/>
        </p:nvSpPr>
        <p:spPr>
          <a:xfrm>
            <a:off x="6470485" y="1323110"/>
            <a:ext cx="4471835" cy="49760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s-AR" sz="2600" b="1" dirty="0">
                <a:solidFill>
                  <a:schemeClr val="tx2"/>
                </a:solidFill>
                <a:latin typeface="Abadi ExtraLight" panose="020B0204020104020204" pitchFamily="34" charset="0"/>
              </a:rPr>
              <a:t>FIRST EXPIRED – FIRST OUT</a:t>
            </a:r>
          </a:p>
          <a:p>
            <a:pPr>
              <a:buFont typeface="Arial" panose="020B0604020202020204" pitchFamily="34" charset="0"/>
              <a:buNone/>
            </a:pPr>
            <a:r>
              <a:rPr lang="es-AR" sz="2600" b="1" dirty="0">
                <a:solidFill>
                  <a:schemeClr val="tx2"/>
                </a:solidFill>
                <a:latin typeface="Abadi ExtraLight" panose="020B0204020104020204" pitchFamily="34" charset="0"/>
              </a:rPr>
              <a:t>Primero que vence → Primero que sale</a:t>
            </a:r>
          </a:p>
          <a:p>
            <a:pPr>
              <a:buNone/>
            </a:pPr>
            <a:endParaRPr lang="es-AR" sz="2400" dirty="0">
              <a:solidFill>
                <a:schemeClr val="tx2"/>
              </a:solidFill>
              <a:latin typeface="Abadi ExtraLight" panose="020B0204020104020204" pitchFamily="34" charset="0"/>
            </a:endParaRPr>
          </a:p>
          <a:p>
            <a:pPr>
              <a:buNone/>
            </a:pPr>
            <a:r>
              <a:rPr lang="es-AR" dirty="0">
                <a:solidFill>
                  <a:schemeClr val="tx2"/>
                </a:solidFill>
                <a:latin typeface="Abadi ExtraLight" panose="020B0204020104020204" pitchFamily="34" charset="0"/>
              </a:rPr>
              <a:t>Método de rotación de inventario que asegura que los productos más próximos a su fecha de expiración sean despachados primero.</a:t>
            </a:r>
          </a:p>
          <a:p>
            <a:pPr>
              <a:buFont typeface="Arial" panose="020B0604020202020204" pitchFamily="34" charset="0"/>
              <a:buNone/>
            </a:pPr>
            <a:endParaRPr lang="es-AR" sz="2600" b="1" dirty="0">
              <a:solidFill>
                <a:schemeClr val="tx2"/>
              </a:solidFill>
              <a:latin typeface="Abadi ExtraLight" panose="020B0204020104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  <a:t>No importa necesariamente qué producto ingresó primero.</a:t>
            </a:r>
            <a:b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</a:br>
            <a: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  <a:t>Lo importante es:</a:t>
            </a:r>
            <a:b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</a:br>
            <a:r>
              <a:rPr lang="es-AR" sz="2600" b="1" dirty="0">
                <a:solidFill>
                  <a:schemeClr val="tx2"/>
                </a:solidFill>
                <a:latin typeface="Abadi ExtraLight" panose="020B0204020104020204" pitchFamily="34" charset="0"/>
              </a:rPr>
              <a:t>¿Cuál vence primero?</a:t>
            </a:r>
            <a:b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</a:br>
            <a: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  <a:t>Ese debe tener prioridad.</a:t>
            </a:r>
          </a:p>
          <a:p>
            <a:pPr>
              <a:buFont typeface="Arial" panose="020B0604020202020204" pitchFamily="34" charset="0"/>
              <a:buNone/>
            </a:pPr>
            <a:br>
              <a:rPr lang="es-AR" sz="2600" dirty="0">
                <a:solidFill>
                  <a:schemeClr val="tx2"/>
                </a:solidFill>
                <a:latin typeface="Abadi ExtraLight" panose="020B0204020104020204" pitchFamily="34" charset="0"/>
              </a:rPr>
            </a:br>
            <a:endParaRPr lang="es-AR" sz="2600" dirty="0">
              <a:solidFill>
                <a:schemeClr val="tx2"/>
              </a:solidFill>
              <a:latin typeface="Abadi ExtraLight" panose="020B02040201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EB408D6-4BBF-977B-959E-7E2DD1DD1434}"/>
              </a:ext>
            </a:extLst>
          </p:cNvPr>
          <p:cNvSpPr txBox="1"/>
          <p:nvPr/>
        </p:nvSpPr>
        <p:spPr>
          <a:xfrm>
            <a:off x="6470485" y="197078"/>
            <a:ext cx="4563275" cy="5847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AR" sz="3200" b="1" dirty="0">
                <a:latin typeface="Abadi ExtraLight" panose="020B0204020104020204" pitchFamily="34" charset="0"/>
              </a:rPr>
              <a:t>¿Qué es FEFO?</a:t>
            </a:r>
          </a:p>
        </p:txBody>
      </p:sp>
    </p:spTree>
    <p:extLst>
      <p:ext uri="{BB962C8B-B14F-4D97-AF65-F5344CB8AC3E}">
        <p14:creationId xmlns:p14="http://schemas.microsoft.com/office/powerpoint/2010/main" val="263071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44B74-3700-EB2C-9969-FADDCBC3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24A1105-4512-BCE0-93E8-9EE569A7A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75733E4-6A0C-F7DB-C43A-0D3ECDA723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D507894A-9387-60DD-00B4-42DCA9BE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A6DDE28D-4865-B744-FDE0-8DB1EE3A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05" y="367787"/>
            <a:ext cx="5444244" cy="1253744"/>
          </a:xfrm>
          <a:solidFill>
            <a:schemeClr val="bg2"/>
          </a:solidFill>
        </p:spPr>
        <p:txBody>
          <a:bodyPr>
            <a:normAutofit/>
          </a:bodyPr>
          <a:lstStyle/>
          <a:p>
            <a:pPr algn="ctr"/>
            <a:r>
              <a:rPr lang="es-AR" sz="2400" b="1" dirty="0">
                <a:latin typeface="Abadi ExtraLight" panose="020B0204020104020204" pitchFamily="34" charset="0"/>
              </a:rPr>
              <a:t>¿Dónde ubicamos cada producto?</a:t>
            </a:r>
            <a:br>
              <a:rPr lang="es-AR" sz="2400" b="1" dirty="0">
                <a:latin typeface="Abadi ExtraLight" panose="020B0204020104020204" pitchFamily="34" charset="0"/>
              </a:rPr>
            </a:br>
            <a:endParaRPr lang="es-AR" sz="2400" dirty="0">
              <a:latin typeface="Abadi ExtraLight" panose="020B02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86F61E-D8AB-30FE-68A7-E26FCE12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06CFE9-D3BF-371C-D2D9-D02A908B56EB}"/>
              </a:ext>
            </a:extLst>
          </p:cNvPr>
          <p:cNvSpPr txBox="1"/>
          <p:nvPr/>
        </p:nvSpPr>
        <p:spPr>
          <a:xfrm>
            <a:off x="784545" y="2495286"/>
            <a:ext cx="4368769" cy="25545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bg2"/>
                </a:solidFill>
              </a:rPr>
              <a:t>PRODUCTOS A</a:t>
            </a:r>
            <a:endParaRPr lang="es-AR" sz="2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s-AR" sz="2000" dirty="0">
                <a:solidFill>
                  <a:schemeClr val="bg2"/>
                </a:solidFill>
              </a:rPr>
              <a:t>➡️ Más cerca de las zonas de carga y de mayor accesibilidad.</a:t>
            </a:r>
          </a:p>
          <a:p>
            <a:pPr>
              <a:buNone/>
            </a:pPr>
            <a:r>
              <a:rPr lang="es-AR" sz="2000" b="1" dirty="0">
                <a:solidFill>
                  <a:schemeClr val="bg2"/>
                </a:solidFill>
              </a:rPr>
              <a:t>PRODUCTOS B</a:t>
            </a:r>
            <a:endParaRPr lang="es-AR" sz="2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s-AR" sz="2000" dirty="0">
                <a:solidFill>
                  <a:schemeClr val="bg2"/>
                </a:solidFill>
              </a:rPr>
              <a:t>➡️ En las posiciones intermedias.</a:t>
            </a:r>
          </a:p>
          <a:p>
            <a:pPr>
              <a:buNone/>
            </a:pPr>
            <a:r>
              <a:rPr lang="es-AR" sz="2000" b="1" dirty="0">
                <a:solidFill>
                  <a:schemeClr val="bg2"/>
                </a:solidFill>
              </a:rPr>
              <a:t>PRODUCTOS C</a:t>
            </a:r>
            <a:endParaRPr lang="es-AR" sz="2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s-AR" sz="2000" dirty="0">
                <a:solidFill>
                  <a:schemeClr val="bg2"/>
                </a:solidFill>
              </a:rPr>
              <a:t>➡️ En sectores más alejados o de menor accesibilidad.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2A5E5B-FEC1-267B-A5EC-49BD06709B71}"/>
              </a:ext>
            </a:extLst>
          </p:cNvPr>
          <p:cNvSpPr txBox="1"/>
          <p:nvPr/>
        </p:nvSpPr>
        <p:spPr>
          <a:xfrm>
            <a:off x="6094476" y="2495286"/>
            <a:ext cx="47044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bg2"/>
                </a:solidFill>
              </a:rPr>
              <a:t>Lo próximo a vencer debe quedar disponible para salir primero.</a:t>
            </a:r>
            <a:endParaRPr lang="es-AR" sz="20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s-AR" sz="2000" dirty="0">
                <a:solidFill>
                  <a:schemeClr val="bg2"/>
                </a:solidFill>
              </a:rPr>
              <a:t>El orden debe mantenerse tanto en </a:t>
            </a:r>
            <a:r>
              <a:rPr lang="es-AR" sz="2000" b="1" dirty="0">
                <a:solidFill>
                  <a:schemeClr val="bg2"/>
                </a:solidFill>
              </a:rPr>
              <a:t>Producto Terminado</a:t>
            </a:r>
            <a:r>
              <a:rPr lang="es-AR" sz="2000" dirty="0">
                <a:solidFill>
                  <a:schemeClr val="bg2"/>
                </a:solidFill>
              </a:rPr>
              <a:t> como en las posiciones utilizadas para la preparación de pedidos.</a:t>
            </a:r>
          </a:p>
        </p:txBody>
      </p:sp>
    </p:spTree>
    <p:extLst>
      <p:ext uri="{BB962C8B-B14F-4D97-AF65-F5344CB8AC3E}">
        <p14:creationId xmlns:p14="http://schemas.microsoft.com/office/powerpoint/2010/main" val="3822300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28ABF-59BB-5283-DEF7-4C35561C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86A755E-A96D-7599-A1BB-42ECA1345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379D501-2DBD-30CD-948E-34974EBF78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-11007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A0DECBB4-B468-12AD-C881-358922555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F1AC1A39-879F-DEA0-AC90-DD1FD351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90" y="302720"/>
            <a:ext cx="8901970" cy="138922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AR" sz="3200" b="1" dirty="0">
                <a:latin typeface="Abadi ExtraLight" panose="020B0204020104020204" pitchFamily="34" charset="0"/>
              </a:rPr>
              <a:t>ABC mejora productividad, pero no reemplaza FEFO</a:t>
            </a:r>
            <a:endParaRPr lang="es-AR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22AC02-3372-3527-97A8-D2BB3CC3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1638EED-F39C-8B1E-C3D3-C13DDA71EDB1}"/>
              </a:ext>
            </a:extLst>
          </p:cNvPr>
          <p:cNvSpPr txBox="1"/>
          <p:nvPr/>
        </p:nvSpPr>
        <p:spPr>
          <a:xfrm>
            <a:off x="6587421" y="1968816"/>
            <a:ext cx="41547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800" dirty="0">
                <a:solidFill>
                  <a:schemeClr val="bg2"/>
                </a:solidFill>
              </a:rPr>
              <a:t>Un producto puede ser:</a:t>
            </a:r>
          </a:p>
          <a:p>
            <a:pPr>
              <a:buNone/>
            </a:pPr>
            <a:r>
              <a:rPr lang="es-AR" sz="2800" b="1" dirty="0">
                <a:solidFill>
                  <a:schemeClr val="bg2"/>
                </a:solidFill>
              </a:rPr>
              <a:t>A por volumen</a:t>
            </a:r>
            <a:endParaRPr lang="es-AR" sz="28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s-AR" sz="2800" dirty="0">
                <a:solidFill>
                  <a:schemeClr val="bg2"/>
                </a:solidFill>
              </a:rPr>
              <a:t>pero tener:</a:t>
            </a:r>
          </a:p>
          <a:p>
            <a:pPr>
              <a:buNone/>
            </a:pPr>
            <a:r>
              <a:rPr lang="es-AR" sz="2800" b="1" dirty="0">
                <a:solidFill>
                  <a:schemeClr val="bg2"/>
                </a:solidFill>
              </a:rPr>
              <a:t>dos fechas de vencimiento diferentes.</a:t>
            </a:r>
            <a:endParaRPr lang="es-AR" sz="2800" dirty="0">
              <a:solidFill>
                <a:schemeClr val="bg2"/>
              </a:solidFill>
            </a:endParaRPr>
          </a:p>
          <a:p>
            <a:pPr>
              <a:buNone/>
            </a:pPr>
            <a:r>
              <a:rPr lang="es-AR" sz="2800" dirty="0">
                <a:solidFill>
                  <a:schemeClr val="bg2"/>
                </a:solidFill>
              </a:rPr>
              <a:t>¿Qué producto debemos retirar primero?</a:t>
            </a:r>
          </a:p>
          <a:p>
            <a:pPr>
              <a:buNone/>
            </a:pPr>
            <a:r>
              <a:rPr lang="es-AR" sz="2800" dirty="0">
                <a:solidFill>
                  <a:schemeClr val="bg2"/>
                </a:solidFill>
              </a:rPr>
              <a:t>➡️ </a:t>
            </a:r>
            <a:r>
              <a:rPr lang="es-AR" sz="2800" b="1" dirty="0">
                <a:solidFill>
                  <a:schemeClr val="bg2"/>
                </a:solidFill>
              </a:rPr>
              <a:t>El que vence primero.</a:t>
            </a:r>
            <a:endParaRPr lang="es-AR" sz="2800" dirty="0">
              <a:solidFill>
                <a:schemeClr val="bg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DD7B38-401E-283C-F4A4-4675B1183973}"/>
              </a:ext>
            </a:extLst>
          </p:cNvPr>
          <p:cNvSpPr txBox="1"/>
          <p:nvPr/>
        </p:nvSpPr>
        <p:spPr>
          <a:xfrm>
            <a:off x="931402" y="3014394"/>
            <a:ext cx="4849630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3200" dirty="0"/>
              <a:t>Para que FEFO funcione, debemos poder identificar correctamente cada pallet.</a:t>
            </a:r>
          </a:p>
        </p:txBody>
      </p:sp>
    </p:spTree>
    <p:extLst>
      <p:ext uri="{BB962C8B-B14F-4D97-AF65-F5344CB8AC3E}">
        <p14:creationId xmlns:p14="http://schemas.microsoft.com/office/powerpoint/2010/main" val="3912727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C0A65-E359-EDC5-3886-BA5FE5D0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6220AD3-6F3B-BAAA-6CCE-109CD6519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648907A-28D0-0B43-3A1E-E7DD9E152E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354814BC-1B1E-0184-B8C9-D7A145190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9AE0B220-2DE1-B9FA-6E6A-92E2A1AA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25" y="762707"/>
            <a:ext cx="3841817" cy="5722227"/>
          </a:xfrm>
          <a:solidFill>
            <a:schemeClr val="bg2"/>
          </a:solidFill>
        </p:spPr>
        <p:txBody>
          <a:bodyPr>
            <a:normAutofit/>
          </a:bodyPr>
          <a:lstStyle/>
          <a:p>
            <a:pPr lvl="0"/>
            <a:r>
              <a:rPr lang="es-AR" sz="2400" dirty="0"/>
              <a:t>El estándar ABC + FEFO exige que las paletas tengan:</a:t>
            </a:r>
            <a:br>
              <a:rPr lang="es-AR" sz="2400" dirty="0"/>
            </a:br>
            <a:r>
              <a:rPr lang="es-AR" sz="2400" dirty="0"/>
              <a:t>- </a:t>
            </a:r>
            <a:r>
              <a:rPr lang="es-AR" sz="2400" dirty="0" err="1"/>
              <a:t>Codigo</a:t>
            </a:r>
            <a:r>
              <a:rPr lang="es-AR" sz="2400" dirty="0"/>
              <a:t>.</a:t>
            </a:r>
            <a:br>
              <a:rPr lang="es-AR" sz="2400" dirty="0"/>
            </a:br>
            <a:r>
              <a:rPr lang="es-AR" sz="2400" dirty="0"/>
              <a:t>- Rotación.</a:t>
            </a:r>
            <a:br>
              <a:rPr lang="es-AR" sz="2400" dirty="0"/>
            </a:br>
            <a:r>
              <a:rPr lang="es-AR" sz="2400" dirty="0"/>
              <a:t>- Fecha de pre-bloqueo. </a:t>
            </a:r>
            <a:br>
              <a:rPr lang="es-AR" sz="2400" dirty="0"/>
            </a:br>
            <a:r>
              <a:rPr lang="es-AR" sz="2400" dirty="0"/>
              <a:t>- Fecha de bloqueo. </a:t>
            </a:r>
            <a:br>
              <a:rPr lang="es-AR" sz="2400" dirty="0"/>
            </a:br>
            <a:r>
              <a:rPr lang="es-AR" sz="2400" dirty="0"/>
              <a:t>- Fecha de vencimiento. </a:t>
            </a:r>
            <a:br>
              <a:rPr lang="es-AR" sz="2400" dirty="0"/>
            </a:br>
            <a:r>
              <a:rPr lang="es-AR" sz="2400" dirty="0"/>
              <a:t>- SKU. </a:t>
            </a:r>
            <a:br>
              <a:rPr lang="es-AR" sz="2400" dirty="0"/>
            </a:br>
            <a:r>
              <a:rPr lang="es-AR" sz="2400" dirty="0"/>
              <a:t>- Descripción. </a:t>
            </a:r>
            <a:br>
              <a:rPr lang="es-AR" sz="2400" dirty="0"/>
            </a:br>
            <a:r>
              <a:rPr lang="es-AR" sz="2400" dirty="0"/>
              <a:t>- Fecha de ingreso. </a:t>
            </a:r>
            <a:br>
              <a:rPr lang="es-AR" sz="2400" dirty="0"/>
            </a:br>
            <a:r>
              <a:rPr lang="es-AR" sz="2400" dirty="0"/>
              <a:t>- Apilabilidad. </a:t>
            </a:r>
            <a:br>
              <a:rPr lang="es-AR" sz="2400" dirty="0"/>
            </a:br>
            <a:r>
              <a:rPr lang="es-AR" sz="2400" dirty="0"/>
              <a:t>- Bultos por pallet. </a:t>
            </a:r>
            <a:br>
              <a:rPr lang="es-AR" sz="2400" dirty="0"/>
            </a:br>
            <a:r>
              <a:rPr lang="es-AR" sz="2400" dirty="0"/>
              <a:t>- Pisos. </a:t>
            </a:r>
            <a:br>
              <a:rPr lang="es-AR" sz="2400" dirty="0"/>
            </a:br>
            <a:r>
              <a:rPr lang="es-AR" sz="2400" dirty="0"/>
              <a:t>- Bultos por piso. </a:t>
            </a:r>
            <a:br>
              <a:rPr lang="es-AR" sz="2400" dirty="0"/>
            </a:br>
            <a:r>
              <a:rPr lang="es-AR" sz="2400" dirty="0"/>
              <a:t>- Kg por paleta.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32AC27-10BC-F09E-2A8F-908913CAC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1B75DE-DC97-EF1E-A13E-BED081522B7A}"/>
              </a:ext>
            </a:extLst>
          </p:cNvPr>
          <p:cNvSpPr txBox="1"/>
          <p:nvPr/>
        </p:nvSpPr>
        <p:spPr>
          <a:xfrm>
            <a:off x="402509" y="125845"/>
            <a:ext cx="3458292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AR" sz="2800" b="1" dirty="0">
                <a:latin typeface="Abadi ExtraLight" panose="020B0204020104020204" pitchFamily="34" charset="0"/>
              </a:rPr>
              <a:t>Estándar ABC + FEFO</a:t>
            </a:r>
            <a:endParaRPr lang="es-AR" sz="2800" dirty="0">
              <a:latin typeface="Abadi ExtraLight" panose="020B02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346864-9FAC-8813-362E-009690F22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92" y="1135296"/>
            <a:ext cx="5724647" cy="463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30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CE1BD-74A1-8C4C-90DA-0D332E880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CE8A0DD-6824-8BE9-6E4B-23FF1872B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E6CABB7-8B85-B141-4985-DD03C0C61A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" y="10896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E3541A41-73FC-86D7-42A8-B196E0C5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F5449463-72AB-9E79-8638-ED86292A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4" y="1172701"/>
            <a:ext cx="3656674" cy="4846363"/>
          </a:xfrm>
          <a:solidFill>
            <a:schemeClr val="bg2"/>
          </a:solidFill>
        </p:spPr>
        <p:txBody>
          <a:bodyPr>
            <a:normAutofit/>
          </a:bodyPr>
          <a:lstStyle/>
          <a:p>
            <a:pPr algn="ctr"/>
            <a:br>
              <a:rPr lang="es-AR" sz="2800" b="1" dirty="0"/>
            </a:br>
            <a:endParaRPr lang="es-AR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50356A-FCAA-B6DF-0402-DC6DE76E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51F463-1777-3F4A-D341-A3754E9C4BAC}"/>
              </a:ext>
            </a:extLst>
          </p:cNvPr>
          <p:cNvSpPr txBox="1"/>
          <p:nvPr/>
        </p:nvSpPr>
        <p:spPr>
          <a:xfrm>
            <a:off x="293914" y="318831"/>
            <a:ext cx="5964646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AR" sz="4000" b="1" dirty="0">
                <a:latin typeface="Abadi ExtraLight" panose="020B0204020104020204" pitchFamily="34" charset="0"/>
              </a:rPr>
              <a:t>Control semanal de frescura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FDA3A7-1905-1BD7-55C3-8DB316E34345}"/>
              </a:ext>
            </a:extLst>
          </p:cNvPr>
          <p:cNvSpPr txBox="1"/>
          <p:nvPr/>
        </p:nvSpPr>
        <p:spPr>
          <a:xfrm>
            <a:off x="1191323" y="1168400"/>
            <a:ext cx="301610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dirty="0"/>
              <a:t>El control de frescura se realiza utilizando </a:t>
            </a:r>
            <a:r>
              <a:rPr lang="es-AR" sz="2000" b="1" dirty="0"/>
              <a:t>Chess ERP</a:t>
            </a:r>
            <a:r>
              <a:rPr lang="es-AR" sz="2000" dirty="0"/>
              <a:t>.</a:t>
            </a:r>
          </a:p>
          <a:p>
            <a:pPr>
              <a:buNone/>
            </a:pPr>
            <a:r>
              <a:rPr lang="es-AR" sz="2000" b="1" dirty="0"/>
              <a:t>Supervisor de Almacén o persona designada</a:t>
            </a:r>
            <a:endParaRPr lang="es-AR" sz="2000" dirty="0"/>
          </a:p>
          <a:p>
            <a:pPr>
              <a:buNone/>
            </a:pPr>
            <a:r>
              <a:rPr lang="es-AR" sz="2000" dirty="0"/>
              <a:t>➡️ Se realiza control semanal</a:t>
            </a:r>
          </a:p>
          <a:p>
            <a:pPr>
              <a:buNone/>
            </a:pPr>
            <a:r>
              <a:rPr lang="es-AR" sz="2000" dirty="0"/>
              <a:t>Debe verificar: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000" dirty="0"/>
              <a:t>Fecha de expiración.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000" dirty="0"/>
              <a:t>Rotación correcta.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000" dirty="0"/>
              <a:t>Producto físico contra información del sistema.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000" dirty="0"/>
              <a:t>Diferencias o anomalías.</a:t>
            </a:r>
          </a:p>
        </p:txBody>
      </p:sp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19A4FF6C-FD36-1482-6C23-A40DA4A59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805" y="1727797"/>
            <a:ext cx="5791835" cy="2863215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FE60EB65-0245-145C-D656-2F2468F85E66}"/>
              </a:ext>
            </a:extLst>
          </p:cNvPr>
          <p:cNvGrpSpPr/>
          <p:nvPr/>
        </p:nvGrpSpPr>
        <p:grpSpPr>
          <a:xfrm>
            <a:off x="5707662" y="2084983"/>
            <a:ext cx="5473198" cy="1681559"/>
            <a:chOff x="19332" y="646708"/>
            <a:chExt cx="5473198" cy="1681559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B63A5D1-FC7D-7D07-B3ED-B0B4C4878E09}"/>
                </a:ext>
              </a:extLst>
            </p:cNvPr>
            <p:cNvCxnSpPr/>
            <p:nvPr/>
          </p:nvCxnSpPr>
          <p:spPr>
            <a:xfrm flipH="1" flipV="1">
              <a:off x="943753" y="786377"/>
              <a:ext cx="542925" cy="44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F0ED3569-D2B1-765E-DFCF-3E44367DF049}"/>
                </a:ext>
              </a:extLst>
            </p:cNvPr>
            <p:cNvCxnSpPr/>
            <p:nvPr/>
          </p:nvCxnSpPr>
          <p:spPr>
            <a:xfrm flipH="1" flipV="1">
              <a:off x="2817053" y="799175"/>
              <a:ext cx="723900" cy="43815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 de texto 3">
              <a:extLst>
                <a:ext uri="{FF2B5EF4-FFF2-40B4-BE49-F238E27FC236}">
                  <a16:creationId xmlns:a16="http://schemas.microsoft.com/office/drawing/2014/main" id="{8D110600-86D1-7EBC-8EFD-7D200C2A9678}"/>
                </a:ext>
              </a:extLst>
            </p:cNvPr>
            <p:cNvSpPr txBox="1"/>
            <p:nvPr/>
          </p:nvSpPr>
          <p:spPr>
            <a:xfrm>
              <a:off x="942975" y="1330394"/>
              <a:ext cx="2047875" cy="2667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s-MX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1° Seleccionar deposito a revisar</a:t>
              </a:r>
              <a:endParaRPr lang="es-A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Cuadro de texto 3">
              <a:extLst>
                <a:ext uri="{FF2B5EF4-FFF2-40B4-BE49-F238E27FC236}">
                  <a16:creationId xmlns:a16="http://schemas.microsoft.com/office/drawing/2014/main" id="{3B638D22-8130-3A03-5FB8-CEDEED804909}"/>
                </a:ext>
              </a:extLst>
            </p:cNvPr>
            <p:cNvSpPr txBox="1"/>
            <p:nvPr/>
          </p:nvSpPr>
          <p:spPr>
            <a:xfrm>
              <a:off x="3654205" y="1250631"/>
              <a:ext cx="1838325" cy="2667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s-MX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2° Tildar “Procesar Frescura”</a:t>
              </a:r>
              <a:endParaRPr lang="es-A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uadro de texto 3">
              <a:extLst>
                <a:ext uri="{FF2B5EF4-FFF2-40B4-BE49-F238E27FC236}">
                  <a16:creationId xmlns:a16="http://schemas.microsoft.com/office/drawing/2014/main" id="{577E7A6D-2632-301A-8AC5-2FA01E65E57D}"/>
                </a:ext>
              </a:extLst>
            </p:cNvPr>
            <p:cNvSpPr txBox="1"/>
            <p:nvPr/>
          </p:nvSpPr>
          <p:spPr>
            <a:xfrm>
              <a:off x="546734" y="2061567"/>
              <a:ext cx="2371725" cy="26670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s-MX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3° Clic en ruedita para iniciar proceso</a:t>
              </a:r>
              <a:endParaRPr lang="es-A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7F15F86-5F0F-5DA6-C51A-F647AD1EA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32" y="646708"/>
              <a:ext cx="790482" cy="13440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1048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E4AAE-0DDA-C974-6EFB-643F0D49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6DEDE2-4C54-4CE0-EAB4-4DF0ED0F7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DE1FA2B-DC13-73AF-6E46-C9A5D36196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27" y="23766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39E41A8E-183E-C7D6-B400-D01E6F821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AED2DA-F6F7-85D0-614C-BF91E9439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6FF37AB-E0FC-1A46-F17F-3B30A9F7AB1C}"/>
              </a:ext>
            </a:extLst>
          </p:cNvPr>
          <p:cNvSpPr txBox="1"/>
          <p:nvPr/>
        </p:nvSpPr>
        <p:spPr>
          <a:xfrm>
            <a:off x="544285" y="225129"/>
            <a:ext cx="622960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AR" sz="3600" b="1" dirty="0">
                <a:latin typeface="Abadi ExtraLight" panose="020B0204020104020204" pitchFamily="34" charset="0"/>
              </a:rPr>
              <a:t>Productos próximos a vencer</a:t>
            </a:r>
            <a:endParaRPr lang="es-AR" sz="3600" dirty="0">
              <a:latin typeface="Abadi ExtraLight" panose="020B02040201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03608E1-A83F-5C37-7E6A-18EDE744F54A}"/>
              </a:ext>
            </a:extLst>
          </p:cNvPr>
          <p:cNvSpPr txBox="1"/>
          <p:nvPr/>
        </p:nvSpPr>
        <p:spPr>
          <a:xfrm>
            <a:off x="4221294" y="1657509"/>
            <a:ext cx="3429186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s-AR" sz="2800" dirty="0">
                <a:solidFill>
                  <a:schemeClr val="bg2"/>
                </a:solidFill>
                <a:latin typeface="Abadi ExtraLight" panose="020B0204020104020204" pitchFamily="34" charset="0"/>
              </a:rPr>
              <a:t>Depósito Bloqueado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EBA233-23A1-B83F-41A6-CC71D231424D}"/>
              </a:ext>
            </a:extLst>
          </p:cNvPr>
          <p:cNvSpPr txBox="1"/>
          <p:nvPr/>
        </p:nvSpPr>
        <p:spPr>
          <a:xfrm>
            <a:off x="1166162" y="2299506"/>
            <a:ext cx="9794240" cy="378565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400" dirty="0"/>
              <a:t>Cuando un producto se aproxima a su vencimiento:</a:t>
            </a:r>
          </a:p>
          <a:p>
            <a:pPr>
              <a:buNone/>
            </a:pPr>
            <a:r>
              <a:rPr lang="es-AR" sz="2400" b="1" dirty="0"/>
              <a:t>15 DÍAS ANTES DEL VENCIMIENTO</a:t>
            </a:r>
          </a:p>
          <a:p>
            <a:pPr>
              <a:buNone/>
            </a:pPr>
            <a:r>
              <a:rPr lang="es-AR" sz="2400" dirty="0"/>
              <a:t>➡️ </a:t>
            </a:r>
            <a:r>
              <a:rPr lang="es-AR" sz="2400" b="1" dirty="0"/>
              <a:t>Debe trasladarse al Depósito Bloqueado.</a:t>
            </a:r>
            <a:endParaRPr lang="es-AR" sz="2400" dirty="0"/>
          </a:p>
          <a:p>
            <a:pPr>
              <a:buNone/>
            </a:pPr>
            <a:r>
              <a:rPr lang="es-AR" sz="2400" dirty="0"/>
              <a:t>Actualmente el plazo 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/>
              <a:t>Categoría A → 15 días.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/>
              <a:t>Categoría B → 15 días.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AR" sz="2400" dirty="0"/>
              <a:t>Categoría C → 15 días. </a:t>
            </a:r>
          </a:p>
          <a:p>
            <a:pPr>
              <a:buNone/>
            </a:pPr>
            <a:r>
              <a:rPr lang="es-AR" sz="2400" b="1" dirty="0"/>
              <a:t>Importante</a:t>
            </a:r>
          </a:p>
          <a:p>
            <a:pPr>
              <a:buNone/>
            </a:pPr>
            <a:r>
              <a:rPr lang="es-AR" sz="2400" dirty="0"/>
              <a:t>El producto debe trasladarse </a:t>
            </a:r>
            <a:r>
              <a:rPr lang="es-AR" sz="2400" b="1" dirty="0"/>
              <a:t>físicamente y en el sistema</a:t>
            </a:r>
            <a:endParaRPr lang="es-AR" sz="2400" dirty="0"/>
          </a:p>
          <a:p>
            <a:pPr>
              <a:buNone/>
            </a:pPr>
            <a:r>
              <a:rPr lang="es-AR" sz="2400" dirty="0"/>
              <a:t>para mantener la trazabilidad.</a:t>
            </a:r>
          </a:p>
        </p:txBody>
      </p:sp>
    </p:spTree>
    <p:extLst>
      <p:ext uri="{BB962C8B-B14F-4D97-AF65-F5344CB8AC3E}">
        <p14:creationId xmlns:p14="http://schemas.microsoft.com/office/powerpoint/2010/main" val="831754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7D4B2-B19D-E06F-C0B7-A256EAF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345E71-EA0C-17CA-DFC0-7F5FFFF6F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6247547-A087-BA46-7D1F-B18C9B7F2F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sp>
        <p:nvSpPr>
          <p:cNvPr id="21" name="sketch box">
            <a:extLst>
              <a:ext uri="{FF2B5EF4-FFF2-40B4-BE49-F238E27FC236}">
                <a16:creationId xmlns:a16="http://schemas.microsoft.com/office/drawing/2014/main" id="{95202E3B-58A3-66A2-ED4A-0DD7684E0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4CC319-135E-F089-FEEE-F3DD9F688718}"/>
              </a:ext>
            </a:extLst>
          </p:cNvPr>
          <p:cNvSpPr txBox="1"/>
          <p:nvPr/>
        </p:nvSpPr>
        <p:spPr>
          <a:xfrm>
            <a:off x="2053564" y="4555455"/>
            <a:ext cx="7274560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AR" sz="2400" dirty="0"/>
              <a:t>❌ Pallet almacenado en una ubicación incorrecta.</a:t>
            </a:r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1C0227A4-FA53-EF3C-C0D2-22F11DE7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387" y="1201662"/>
            <a:ext cx="6950916" cy="478156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s-AR" sz="2400" dirty="0"/>
              <a:t>❌ Producto bloqueado despachado sin autorización.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AE656E-3052-C3AD-5380-5A15E6E6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3432545-03D0-8CCB-4E43-FF8271E45018}"/>
              </a:ext>
            </a:extLst>
          </p:cNvPr>
          <p:cNvSpPr txBox="1"/>
          <p:nvPr/>
        </p:nvSpPr>
        <p:spPr>
          <a:xfrm>
            <a:off x="2349831" y="199569"/>
            <a:ext cx="6682029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AR" sz="4000" dirty="0">
                <a:latin typeface="Abadi ExtraLight" panose="020B0204020104020204" pitchFamily="34" charset="0"/>
              </a:rPr>
              <a:t>Situaciones que debemos evitar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1B9DF-44A1-1B08-C642-4AE01C7BF2CD}"/>
              </a:ext>
            </a:extLst>
          </p:cNvPr>
          <p:cNvSpPr txBox="1"/>
          <p:nvPr/>
        </p:nvSpPr>
        <p:spPr>
          <a:xfrm>
            <a:off x="3396139" y="1852295"/>
            <a:ext cx="4332550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AR" sz="2400" dirty="0"/>
              <a:t>❌ Producto sin identificación.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2E93AA-D6EE-9488-4CB3-803149CFF35A}"/>
              </a:ext>
            </a:extLst>
          </p:cNvPr>
          <p:cNvSpPr txBox="1"/>
          <p:nvPr/>
        </p:nvSpPr>
        <p:spPr>
          <a:xfrm>
            <a:off x="1784947" y="2498171"/>
            <a:ext cx="7811795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AR" sz="2400" dirty="0"/>
              <a:t>❌ Fecha más nueva delante de la más próxima a vencer.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76090C-36B8-62F2-54EE-F78654398D8C}"/>
              </a:ext>
            </a:extLst>
          </p:cNvPr>
          <p:cNvSpPr txBox="1"/>
          <p:nvPr/>
        </p:nvSpPr>
        <p:spPr>
          <a:xfrm>
            <a:off x="1289779" y="5245062"/>
            <a:ext cx="9599953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AR" sz="2400" dirty="0"/>
              <a:t>❌ Producto vencido o próximo a vencerse mezclado con stock normal.</a:t>
            </a:r>
            <a:endParaRPr lang="es-AR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06B9D08-DD76-709B-1A5D-F11FF243E2FA}"/>
              </a:ext>
            </a:extLst>
          </p:cNvPr>
          <p:cNvSpPr txBox="1"/>
          <p:nvPr/>
        </p:nvSpPr>
        <p:spPr>
          <a:xfrm>
            <a:off x="1534161" y="3174783"/>
            <a:ext cx="8298684" cy="461665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spAutoFit/>
          </a:bodyPr>
          <a:lstStyle/>
          <a:p>
            <a:r>
              <a:rPr lang="es-AR" sz="2400" dirty="0"/>
              <a:t>❌ Diferencias entre CHESS y producto físico sin investigar.</a:t>
            </a:r>
            <a:endParaRPr lang="es-AR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14960D0-6DB1-0F70-B79D-A0E314B3A31D}"/>
              </a:ext>
            </a:extLst>
          </p:cNvPr>
          <p:cNvSpPr txBox="1"/>
          <p:nvPr/>
        </p:nvSpPr>
        <p:spPr>
          <a:xfrm>
            <a:off x="2395485" y="3856690"/>
            <a:ext cx="6576036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AR" sz="2400" dirty="0"/>
              <a:t>❌ Recepción de producto dañado sin informar.</a:t>
            </a:r>
            <a:endParaRPr lang="es-AR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FBFA94-5A5C-C69F-6F71-448CA7EAC2FA}"/>
              </a:ext>
            </a:extLst>
          </p:cNvPr>
          <p:cNvSpPr txBox="1"/>
          <p:nvPr/>
        </p:nvSpPr>
        <p:spPr>
          <a:xfrm>
            <a:off x="1645791" y="5914833"/>
            <a:ext cx="8456333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sz="2400" dirty="0"/>
              <a:t>Ante cualquiera de estas situaciones dar aviso al supervisor.</a:t>
            </a:r>
          </a:p>
        </p:txBody>
      </p:sp>
    </p:spTree>
    <p:extLst>
      <p:ext uri="{BB962C8B-B14F-4D97-AF65-F5344CB8AC3E}">
        <p14:creationId xmlns:p14="http://schemas.microsoft.com/office/powerpoint/2010/main" val="1506985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9F1C1-3F72-D61B-C436-BD30F139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4913" y="245382"/>
            <a:ext cx="2656115" cy="86496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s-AR" dirty="0">
                <a:latin typeface="Aharoni" panose="02010803020104030203" pitchFamily="2" charset="-79"/>
                <a:cs typeface="Aharoni" panose="02010803020104030203" pitchFamily="2" charset="-79"/>
              </a:rPr>
              <a:t>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475573-8F5B-8BBD-E28F-96A7C101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568"/>
            <a:ext cx="10515600" cy="4351338"/>
          </a:xfrm>
          <a:solidFill>
            <a:schemeClr val="tx2"/>
          </a:solidFill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s-AR" sz="4000" dirty="0">
                <a:solidFill>
                  <a:schemeClr val="bg2"/>
                </a:solidFill>
                <a:latin typeface="Goudy Old Style" panose="02020502050305020303" pitchFamily="18" charset="0"/>
              </a:rPr>
              <a:t>ABC + FEFO = ORDEN + PRODUCTIVIDAD + FRESCURA</a:t>
            </a:r>
          </a:p>
          <a:p>
            <a:pPr>
              <a:buNone/>
            </a:pPr>
            <a:endParaRPr lang="es-AR" sz="4000" b="1" dirty="0">
              <a:solidFill>
                <a:schemeClr val="bg2"/>
              </a:solidFill>
              <a:latin typeface="Goudy Old Style" panose="02020502050305020303" pitchFamily="18" charset="0"/>
            </a:endParaRPr>
          </a:p>
          <a:p>
            <a:pPr algn="ctr">
              <a:buNone/>
            </a:pPr>
            <a:r>
              <a:rPr lang="es-AR" sz="4000" dirty="0">
                <a:solidFill>
                  <a:schemeClr val="bg2"/>
                </a:solidFill>
                <a:latin typeface="Goudy Old Style" panose="02020502050305020303" pitchFamily="18" charset="0"/>
              </a:rPr>
              <a:t>EL PRODUCTO QUE VENCE PRIMERO, SALE PRIMERO.</a:t>
            </a:r>
          </a:p>
          <a:p>
            <a:pPr>
              <a:buNone/>
            </a:pPr>
            <a:endParaRPr lang="es-AR" sz="4000" b="1" dirty="0">
              <a:solidFill>
                <a:schemeClr val="bg2"/>
              </a:solidFill>
              <a:latin typeface="Goudy Old Style" panose="02020502050305020303" pitchFamily="18" charset="0"/>
            </a:endParaRPr>
          </a:p>
          <a:p>
            <a:pPr algn="ctr">
              <a:buNone/>
            </a:pPr>
            <a:r>
              <a:rPr lang="es-AR" sz="4000" b="1" dirty="0">
                <a:solidFill>
                  <a:schemeClr val="bg2"/>
                </a:solidFill>
                <a:latin typeface="Goudy Old Style" panose="02020502050305020303" pitchFamily="18" charset="0"/>
              </a:rPr>
              <a:t>		</a:t>
            </a:r>
            <a:r>
              <a:rPr lang="es-AR" b="1" dirty="0">
                <a:solidFill>
                  <a:schemeClr val="bg1"/>
                </a:solidFill>
                <a:latin typeface="Goudy Old Style" panose="02020502050305020303" pitchFamily="18" charset="0"/>
              </a:rPr>
              <a:t>LA RESPONSABILIDAD ES DE TODOS.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9F69E9-2F66-D880-670A-FD71EBE51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915" y="5545928"/>
            <a:ext cx="1082673" cy="1078460"/>
          </a:xfrm>
          <a:prstGeom prst="rect">
            <a:avLst/>
          </a:prstGeom>
        </p:spPr>
      </p:pic>
      <p:pic>
        <p:nvPicPr>
          <p:cNvPr id="6" name="Imagen 5" descr="Nombre de la empresa&#10;&#10;Descripción generada automáticamente">
            <a:extLst>
              <a:ext uri="{FF2B5EF4-FFF2-40B4-BE49-F238E27FC236}">
                <a16:creationId xmlns:a16="http://schemas.microsoft.com/office/drawing/2014/main" id="{5703BF68-4B7F-B8A9-BBDF-5E876FD1A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446" y="548335"/>
            <a:ext cx="1892938" cy="719655"/>
          </a:xfrm>
          <a:prstGeom prst="rect">
            <a:avLst/>
          </a:prstGeom>
          <a:noFill/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CCA9132-07BC-2094-ED9E-BBA15A2FB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27703"/>
            <a:ext cx="3048000" cy="60110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449BAE9-C534-C8D9-E726-E56ADEA278C4}"/>
              </a:ext>
            </a:extLst>
          </p:cNvPr>
          <p:cNvSpPr txBox="1"/>
          <p:nvPr/>
        </p:nvSpPr>
        <p:spPr>
          <a:xfrm>
            <a:off x="3525520" y="2668955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b="1" dirty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68432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1AD804-FF9F-4694-AB7C-F864129AEB0C}">
  <we:reference id="wa200005566" version="3.0.0.2" store="es-E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1841</TotalTime>
  <Words>703</Words>
  <Application>Microsoft Office PowerPoint</Application>
  <PresentationFormat>Panorámica</PresentationFormat>
  <Paragraphs>95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Abadi ExtraLight</vt:lpstr>
      <vt:lpstr>Aharoni</vt:lpstr>
      <vt:lpstr>Aptos</vt:lpstr>
      <vt:lpstr>Aptos Display</vt:lpstr>
      <vt:lpstr>Arial</vt:lpstr>
      <vt:lpstr>Calibri</vt:lpstr>
      <vt:lpstr>Goudy Old Style</vt:lpstr>
      <vt:lpstr>Tema de Office</vt:lpstr>
      <vt:lpstr>CAPACITACIÓN:  ABC  +  FEFO</vt:lpstr>
      <vt:lpstr>ABC: Define dónde conviene ubicar.  FEFO: Define qué producto debe salir primero.</vt:lpstr>
      <vt:lpstr>Presentación de PowerPoint</vt:lpstr>
      <vt:lpstr>Cuando ingresa mercadería debemos:</vt:lpstr>
      <vt:lpstr>. </vt:lpstr>
      <vt:lpstr>¿Dónde ubicamos cada producto? </vt:lpstr>
      <vt:lpstr>ABC mejora productividad, pero no reemplaza FEFO</vt:lpstr>
      <vt:lpstr>El estándar ABC + FEFO exige que las paletas tengan: - Codigo. - Rotación. - Fecha de pre-bloqueo.  - Fecha de bloqueo.  - Fecha de vencimiento.  - SKU.  - Descripción.  - Fecha de ingreso.  - Apilabilidad.  - Bultos por pallet.  - Pisos.  - Bultos por piso.  - Kg por paleta.</vt:lpstr>
      <vt:lpstr> </vt:lpstr>
      <vt:lpstr>Presentación de PowerPoint</vt:lpstr>
      <vt:lpstr>❌ Producto bloqueado despachado sin autorización.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Logistica Del Palacio</dc:creator>
  <cp:lastModifiedBy>Logistica Del Palacio</cp:lastModifiedBy>
  <cp:revision>13</cp:revision>
  <dcterms:created xsi:type="dcterms:W3CDTF">2026-08-20T18:36:57Z</dcterms:created>
  <dcterms:modified xsi:type="dcterms:W3CDTF">2026-08-28T17:29:15Z</dcterms:modified>
</cp:coreProperties>
</file>